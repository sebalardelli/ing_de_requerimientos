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n9zTTE4wo4JMVJVV2rtHHSG21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e76132d9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3e76132d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3e76132d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/>
              <a:t>A.</a:t>
            </a:r>
            <a:r>
              <a:rPr lang="en-US" sz="1100"/>
              <a:t> El mapa de una ciudad.</a:t>
            </a:r>
            <a:br>
              <a:rPr lang="en-US" sz="1100"/>
            </a:br>
            <a:r>
              <a:rPr lang="en-US" sz="1100"/>
              <a:t> </a:t>
            </a:r>
            <a:r>
              <a:rPr b="1" lang="en-US" sz="1100"/>
              <a:t>B.</a:t>
            </a:r>
            <a:r>
              <a:rPr lang="en-US" sz="1100"/>
              <a:t> El plano de una casa.</a:t>
            </a:r>
            <a:br>
              <a:rPr lang="en-US" sz="1100"/>
            </a:br>
            <a:r>
              <a:rPr lang="en-US" sz="1100"/>
              <a:t> </a:t>
            </a:r>
            <a:r>
              <a:rPr b="1" lang="en-US" sz="1100"/>
              <a:t>C.</a:t>
            </a:r>
            <a:r>
              <a:rPr lang="en-US" sz="1100"/>
              <a:t> Un modelo de un sistema de turnos.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Preguntás: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¿Qué representa cada uno?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¿Qué información deja afuera?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¿Por qué necesitamos dejar información afuera?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Conclusión:</a:t>
            </a:r>
            <a:endParaRPr b="1" sz="13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/>
              <a:t>Un modelo es una representación seleccionada de una realidad.</a:t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“La parte más difícil es decidir qué construir.” </a:t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https://docs.google.com/document/d/1RwgaosEYEbfreZ8J8LC7avmdsGG33OBBUSOmbxjJ-m4/edit?usp=sharing</a:t>
            </a:r>
            <a:endParaRPr/>
          </a:p>
        </p:txBody>
      </p:sp>
      <p:sp>
        <p:nvSpPr>
          <p:cNvPr id="312" name="Google Shape;3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como imagen" id="89" name="Google Shape;89;g3f3e76132d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71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914399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0"/>
            <a:ext cx="6391835" cy="228599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sx="90000" rotWithShape="0" algn="t" dir="7140000" dist="304800" sy="90000">
              <a:srgbClr val="000000">
                <a:alpha val="1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571352" y="350196"/>
            <a:ext cx="3485178" cy="162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Objetivos de la clase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571351" y="2743200"/>
            <a:ext cx="3485179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Reconocer dificultades esenciales del software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Diferenciar entre modelos, representaciones y realidad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Analizar desafíos en la obtención de requerimientos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Identificar stakeholders y problemas de comunicación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Comprender el gap semántico y el contrato social</a:t>
            </a:r>
            <a:endParaRPr/>
          </a:p>
        </p:txBody>
      </p:sp>
      <p:pic>
        <p:nvPicPr>
          <p:cNvPr descr="Representación en 3D de piezas de juego atadas con una cuerda" id="98" name="Google Shape;98;p2"/>
          <p:cNvPicPr preferRelativeResize="0"/>
          <p:nvPr/>
        </p:nvPicPr>
        <p:blipFill rotWithShape="1">
          <a:blip r:embed="rId3">
            <a:alphaModFix/>
          </a:blip>
          <a:srcRect b="0" l="11886" r="38058" t="0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Dificultades esenciales del software</a:t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1884421" y="2114523"/>
            <a:ext cx="5443736" cy="3369932"/>
            <a:chOff x="970022" y="1944"/>
            <a:chExt cx="5443736" cy="3369932"/>
          </a:xfrm>
        </p:grpSpPr>
        <p:sp>
          <p:nvSpPr>
            <p:cNvPr id="109" name="Google Shape;109;p3"/>
            <p:cNvSpPr/>
            <p:nvPr/>
          </p:nvSpPr>
          <p:spPr>
            <a:xfrm>
              <a:off x="970022" y="1944"/>
              <a:ext cx="2592255" cy="1555353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970022" y="1944"/>
              <a:ext cx="2592255" cy="155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Complejidad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3821503" y="1944"/>
              <a:ext cx="2592255" cy="1555353"/>
            </a:xfrm>
            <a:prstGeom prst="rect">
              <a:avLst/>
            </a:prstGeom>
            <a:solidFill>
              <a:srgbClr val="BD82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3821503" y="1944"/>
              <a:ext cx="2592255" cy="155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Conformidad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970022" y="1816523"/>
              <a:ext cx="2592255" cy="1555353"/>
            </a:xfrm>
            <a:prstGeom prst="rect">
              <a:avLst/>
            </a:prstGeom>
            <a:solidFill>
              <a:srgbClr val="BCB05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970022" y="1816523"/>
              <a:ext cx="2592255" cy="155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Modificabilidad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821503" y="1816523"/>
              <a:ext cx="2592255" cy="1555353"/>
            </a:xfrm>
            <a:prstGeom prst="rect">
              <a:avLst/>
            </a:prstGeom>
            <a:solidFill>
              <a:srgbClr val="9ABA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3821503" y="1816523"/>
              <a:ext cx="2592255" cy="155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Invisibilidad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"/>
          <p:cNvSpPr txBox="1"/>
          <p:nvPr/>
        </p:nvSpPr>
        <p:spPr>
          <a:xfrm>
            <a:off x="731520" y="5732857"/>
            <a:ext cx="76809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Impactan en cómo entendemos lo que nos piden que hagamos. Qué tenemos qué hacer.  La volatilidad de lo que nos piden y la imposibilidad de visualizar el producto.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Complejidad del software</a:t>
            </a:r>
            <a:endParaRPr/>
          </a:p>
        </p:txBody>
      </p:sp>
      <p:grpSp>
        <p:nvGrpSpPr>
          <p:cNvPr id="123" name="Google Shape;123;p4"/>
          <p:cNvGrpSpPr/>
          <p:nvPr/>
        </p:nvGrpSpPr>
        <p:grpSpPr>
          <a:xfrm>
            <a:off x="457200" y="1600752"/>
            <a:ext cx="8229600" cy="4524857"/>
            <a:chOff x="0" y="552"/>
            <a:chExt cx="8229600" cy="4524857"/>
          </a:xfrm>
        </p:grpSpPr>
        <p:sp>
          <p:nvSpPr>
            <p:cNvPr id="124" name="Google Shape;124;p4"/>
            <p:cNvSpPr/>
            <p:nvPr/>
          </p:nvSpPr>
          <p:spPr>
            <a:xfrm>
              <a:off x="0" y="552"/>
              <a:ext cx="8229600" cy="1292816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391077" y="291436"/>
              <a:ext cx="711049" cy="7110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493203" y="552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493203" y="552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800" lIns="136800" spcFirstLastPara="1" rIns="136800" wrap="square" tIns="13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Más compleja que otras construcciones humanas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0" y="1616573"/>
              <a:ext cx="8229600" cy="1292816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391077" y="1907456"/>
              <a:ext cx="711049" cy="71104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1493203" y="161657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1493203" y="161657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800" lIns="136800" spcFirstLastPara="1" rIns="136800" wrap="square" tIns="13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Crece de forma no lineal</a:t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0" y="3232593"/>
              <a:ext cx="8229600" cy="1292816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91077" y="3523477"/>
              <a:ext cx="711049" cy="71104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493203" y="323259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493203" y="323259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800" lIns="136800" spcFirstLastPara="1" rIns="136800" wrap="square" tIns="13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Dificulta comunicación, integración y administración de proyectos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dificultades esenciales</a:t>
            </a:r>
            <a:endParaRPr/>
          </a:p>
        </p:txBody>
      </p:sp>
      <p:grpSp>
        <p:nvGrpSpPr>
          <p:cNvPr id="141" name="Google Shape;141;p5"/>
          <p:cNvGrpSpPr/>
          <p:nvPr/>
        </p:nvGrpSpPr>
        <p:grpSpPr>
          <a:xfrm>
            <a:off x="457200" y="1600752"/>
            <a:ext cx="8229600" cy="4524857"/>
            <a:chOff x="0" y="552"/>
            <a:chExt cx="8229600" cy="4524857"/>
          </a:xfrm>
        </p:grpSpPr>
        <p:sp>
          <p:nvSpPr>
            <p:cNvPr id="142" name="Google Shape;142;p5"/>
            <p:cNvSpPr/>
            <p:nvPr/>
          </p:nvSpPr>
          <p:spPr>
            <a:xfrm>
              <a:off x="0" y="552"/>
              <a:ext cx="8229600" cy="1292816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91077" y="291436"/>
              <a:ext cx="711049" cy="7110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93203" y="552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1493203" y="552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800" lIns="136800" spcFirstLastPara="1" rIns="136800" wrap="square" tIns="13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Conformidad: integración con sistemas, leyes, interfaces</a:t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0" y="1616573"/>
              <a:ext cx="8229600" cy="1292816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91077" y="1907456"/>
              <a:ext cx="711049" cy="71104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493203" y="161657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1493203" y="161657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800" lIns="136800" spcFirstLastPara="1" rIns="136800" wrap="square" tIns="13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Modificabilidad: presión constante de cambios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0" y="3232593"/>
              <a:ext cx="8229600" cy="1292816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91077" y="3523477"/>
              <a:ext cx="711049" cy="71104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493203" y="323259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1493203" y="3232593"/>
              <a:ext cx="6736396" cy="1292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800" lIns="136800" spcFirstLastPara="1" rIns="136800" wrap="square" tIns="136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Invisibilidad: sin representación física clara, difícil de comunicar</a:t>
              </a:r>
              <a:endPara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Modelos y representación</a:t>
            </a:r>
            <a:endParaRPr/>
          </a:p>
        </p:txBody>
      </p:sp>
      <p:grpSp>
        <p:nvGrpSpPr>
          <p:cNvPr id="163" name="Google Shape;163;p6"/>
          <p:cNvGrpSpPr/>
          <p:nvPr/>
        </p:nvGrpSpPr>
        <p:grpSpPr>
          <a:xfrm>
            <a:off x="501577" y="2772468"/>
            <a:ext cx="8158800" cy="2873025"/>
            <a:chOff x="18535" y="659889"/>
            <a:chExt cx="8158800" cy="2873025"/>
          </a:xfrm>
        </p:grpSpPr>
        <p:sp>
          <p:nvSpPr>
            <p:cNvPr id="164" name="Google Shape;164;p6"/>
            <p:cNvSpPr/>
            <p:nvPr/>
          </p:nvSpPr>
          <p:spPr>
            <a:xfrm>
              <a:off x="18535" y="659889"/>
              <a:ext cx="1080124" cy="10801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245361" y="886715"/>
              <a:ext cx="626472" cy="62647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 ≠ realidad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4319746" y="659889"/>
              <a:ext cx="1080124" cy="10801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546573" y="886715"/>
              <a:ext cx="626472" cy="62647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Puede ser copia, descripción, patrón o proyección teórica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18535" y="2452790"/>
              <a:ext cx="1080124" cy="1080124"/>
            </a:xfrm>
            <a:prstGeom prst="ellipse">
              <a:avLst/>
            </a:prstGeom>
            <a:solidFill>
              <a:srgbClr val="7E61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245361" y="2679617"/>
              <a:ext cx="626472" cy="62647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 txBox="1"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Motivos: entender la realidad y planear la construcción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319746" y="2452790"/>
              <a:ext cx="1080124" cy="1080124"/>
            </a:xfrm>
            <a:prstGeom prst="ellipse">
              <a:avLst/>
            </a:prstGeom>
            <a:solidFill>
              <a:srgbClr val="4AA9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546573" y="2679617"/>
              <a:ext cx="626472" cy="62647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Necesitamos abstracción para manejar la complejidad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La dificultad de obtener requerimientos</a:t>
            </a:r>
            <a:endParaRPr/>
          </a:p>
        </p:txBody>
      </p:sp>
      <p:grpSp>
        <p:nvGrpSpPr>
          <p:cNvPr id="189" name="Google Shape;189;p7"/>
          <p:cNvGrpSpPr/>
          <p:nvPr/>
        </p:nvGrpSpPr>
        <p:grpSpPr>
          <a:xfrm>
            <a:off x="1198379" y="2114992"/>
            <a:ext cx="6765195" cy="4187977"/>
            <a:chOff x="715337" y="2413"/>
            <a:chExt cx="6765195" cy="4187977"/>
          </a:xfrm>
        </p:grpSpPr>
        <p:sp>
          <p:nvSpPr>
            <p:cNvPr id="190" name="Google Shape;190;p7"/>
            <p:cNvSpPr/>
            <p:nvPr/>
          </p:nvSpPr>
          <p:spPr>
            <a:xfrm>
              <a:off x="715337" y="2413"/>
              <a:ext cx="3221521" cy="193291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715337" y="2413"/>
              <a:ext cx="3221521" cy="193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'La parte más difícil es decidir qué construir'</a:t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4259011" y="2413"/>
              <a:ext cx="3221521" cy="1932912"/>
            </a:xfrm>
            <a:prstGeom prst="rect">
              <a:avLst/>
            </a:prstGeom>
            <a:solidFill>
              <a:srgbClr val="BD82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7"/>
            <p:cNvSpPr txBox="1"/>
            <p:nvPr/>
          </p:nvSpPr>
          <p:spPr>
            <a:xfrm>
              <a:off x="4259011" y="2413"/>
              <a:ext cx="3221521" cy="193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Impacto de errores iniciales</a:t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715337" y="2257478"/>
              <a:ext cx="3221521" cy="1932912"/>
            </a:xfrm>
            <a:prstGeom prst="rect">
              <a:avLst/>
            </a:prstGeom>
            <a:solidFill>
              <a:srgbClr val="BCB05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 txBox="1"/>
            <p:nvPr/>
          </p:nvSpPr>
          <p:spPr>
            <a:xfrm>
              <a:off x="715337" y="2257478"/>
              <a:ext cx="3221521" cy="193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Problemas: conocimiento implícito, usuarios con poco tiempo</a:t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4259011" y="2257478"/>
              <a:ext cx="3221521" cy="1932912"/>
            </a:xfrm>
            <a:prstGeom prst="rect">
              <a:avLst/>
            </a:prstGeom>
            <a:solidFill>
              <a:srgbClr val="9ABA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7"/>
            <p:cNvSpPr txBox="1"/>
            <p:nvPr/>
          </p:nvSpPr>
          <p:spPr>
            <a:xfrm>
              <a:off x="4259011" y="2257478"/>
              <a:ext cx="3221521" cy="193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Lenguaje diferente entre usuarios y analistas</a:t>
              </a:r>
              <a:endParaRPr b="0" i="0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4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8"/>
                </a:srgbClr>
              </a:gs>
              <a:gs pos="100000">
                <a:srgbClr val="000000">
                  <a:alpha val="74118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Stakeholders</a:t>
            </a:r>
            <a:endParaRPr/>
          </a:p>
        </p:txBody>
      </p:sp>
      <p:grpSp>
        <p:nvGrpSpPr>
          <p:cNvPr id="207" name="Google Shape;207;p8"/>
          <p:cNvGrpSpPr/>
          <p:nvPr/>
        </p:nvGrpSpPr>
        <p:grpSpPr>
          <a:xfrm>
            <a:off x="1212415" y="2505767"/>
            <a:ext cx="6737124" cy="3406427"/>
            <a:chOff x="729373" y="393188"/>
            <a:chExt cx="6737124" cy="3406427"/>
          </a:xfrm>
        </p:grpSpPr>
        <p:sp>
          <p:nvSpPr>
            <p:cNvPr id="208" name="Google Shape;208;p8"/>
            <p:cNvSpPr/>
            <p:nvPr/>
          </p:nvSpPr>
          <p:spPr>
            <a:xfrm>
              <a:off x="1138811" y="393188"/>
              <a:ext cx="669990" cy="66999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729373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729373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Personas u organizaciones impactadas o con interés en el sistema</a:t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2888230" y="393188"/>
              <a:ext cx="669990" cy="66999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2478792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 txBox="1"/>
            <p:nvPr/>
          </p:nvSpPr>
          <p:spPr>
            <a:xfrm>
              <a:off x="2478792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Construcción</a:t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4637649" y="393188"/>
              <a:ext cx="669990" cy="66999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4228211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4228211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Financiero</a:t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6387068" y="393188"/>
              <a:ext cx="669990" cy="66999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5977630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5977630" y="1314747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Operación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62940" y="2282510"/>
              <a:ext cx="669990" cy="66999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3353501" y="3204069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3353501" y="3204069"/>
              <a:ext cx="1488867" cy="595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Cada grupo tiene objetivos e intereses diferentes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 de comunicación</a:t>
            </a:r>
            <a:endParaRPr/>
          </a:p>
        </p:txBody>
      </p:sp>
      <p:grpSp>
        <p:nvGrpSpPr>
          <p:cNvPr id="228" name="Google Shape;228;p9"/>
          <p:cNvGrpSpPr/>
          <p:nvPr/>
        </p:nvGrpSpPr>
        <p:grpSpPr>
          <a:xfrm>
            <a:off x="457200" y="1603735"/>
            <a:ext cx="8229600" cy="4518891"/>
            <a:chOff x="0" y="3535"/>
            <a:chExt cx="8229600" cy="4518891"/>
          </a:xfrm>
        </p:grpSpPr>
        <p:sp>
          <p:nvSpPr>
            <p:cNvPr id="229" name="Google Shape;229;p9"/>
            <p:cNvSpPr/>
            <p:nvPr/>
          </p:nvSpPr>
          <p:spPr>
            <a:xfrm>
              <a:off x="0" y="3535"/>
              <a:ext cx="8229600" cy="753148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227827" y="172994"/>
              <a:ext cx="414231" cy="41423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869886" y="3535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9"/>
            <p:cNvSpPr txBox="1"/>
            <p:nvPr/>
          </p:nvSpPr>
          <p:spPr>
            <a:xfrm>
              <a:off x="869886" y="3535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700" lIns="79700" spcFirstLastPara="1" rIns="79700" wrap="square" tIns="7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Diferencias de lenguaje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0" y="944971"/>
              <a:ext cx="8229600" cy="753148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227827" y="1114429"/>
              <a:ext cx="414231" cy="41423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9"/>
            <p:cNvSpPr/>
            <p:nvPr/>
          </p:nvSpPr>
          <p:spPr>
            <a:xfrm>
              <a:off x="869886" y="944971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9"/>
            <p:cNvSpPr txBox="1"/>
            <p:nvPr/>
          </p:nvSpPr>
          <p:spPr>
            <a:xfrm>
              <a:off x="869886" y="944971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700" lIns="79700" spcFirstLastPara="1" rIns="79700" wrap="square" tIns="7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Falta de consenso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1886407"/>
              <a:ext cx="8229600" cy="753148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227827" y="2055865"/>
              <a:ext cx="414231" cy="41423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9"/>
            <p:cNvSpPr/>
            <p:nvPr/>
          </p:nvSpPr>
          <p:spPr>
            <a:xfrm>
              <a:off x="869886" y="1886407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869886" y="1886407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700" lIns="79700" spcFirstLastPara="1" rIns="79700" wrap="square" tIns="7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Visión limitada del negocio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0" y="2827842"/>
              <a:ext cx="8229600" cy="753148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227827" y="2997301"/>
              <a:ext cx="414231" cy="41423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869886" y="2827842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869886" y="2827842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700" lIns="79700" spcFirstLastPara="1" rIns="79700" wrap="square" tIns="7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Gap semántico: usuario habla 'negocio', analista habla 'tecnología'</a:t>
              </a:r>
              <a:endParaRPr/>
            </a:p>
          </p:txBody>
        </p:sp>
        <p:sp>
          <p:nvSpPr>
            <p:cNvPr id="245" name="Google Shape;245;p9"/>
            <p:cNvSpPr/>
            <p:nvPr/>
          </p:nvSpPr>
          <p:spPr>
            <a:xfrm>
              <a:off x="0" y="3769278"/>
              <a:ext cx="8229600" cy="753148"/>
            </a:xfrm>
            <a:prstGeom prst="roundRect">
              <a:avLst>
                <a:gd fmla="val 10000" name="adj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227827" y="3938736"/>
              <a:ext cx="414231" cy="41423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869886" y="3769278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9"/>
            <p:cNvSpPr txBox="1"/>
            <p:nvPr/>
          </p:nvSpPr>
          <p:spPr>
            <a:xfrm>
              <a:off x="869886" y="3769278"/>
              <a:ext cx="7359713" cy="75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700" lIns="79700" spcFirstLastPara="1" rIns="79700" wrap="square" tIns="7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Necesidad de un contrato social de los requerimientos</a:t>
              </a:r>
              <a:endPara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 flipH="1" rot="-5400000">
            <a:off x="3486646" y="-3486043"/>
            <a:ext cx="2170709" cy="9144000"/>
          </a:xfrm>
          <a:prstGeom prst="rect">
            <a:avLst/>
          </a:prstGeom>
          <a:gradFill>
            <a:gsLst>
              <a:gs pos="0">
                <a:srgbClr val="366092">
                  <a:alpha val="16078"/>
                </a:srgbClr>
              </a:gs>
              <a:gs pos="23000">
                <a:srgbClr val="366092">
                  <a:alpha val="16078"/>
                </a:srgbClr>
              </a:gs>
              <a:gs pos="99000">
                <a:srgbClr val="000000">
                  <a:alpha val="45098"/>
                </a:srgbClr>
              </a:gs>
              <a:gs pos="100000">
                <a:srgbClr val="000000">
                  <a:alpha val="45098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>
            <p:ph type="title"/>
          </p:nvPr>
        </p:nvSpPr>
        <p:spPr>
          <a:xfrm>
            <a:off x="1037673" y="348865"/>
            <a:ext cx="7288583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El contrato social de los requerimientos Derechos del usuario</a:t>
            </a:r>
            <a:endParaRPr sz="3500">
              <a:solidFill>
                <a:srgbClr val="FFFFFF"/>
              </a:solidFill>
            </a:endParaRPr>
          </a:p>
        </p:txBody>
      </p:sp>
      <p:grpSp>
        <p:nvGrpSpPr>
          <p:cNvPr id="258" name="Google Shape;258;p10"/>
          <p:cNvGrpSpPr/>
          <p:nvPr/>
        </p:nvGrpSpPr>
        <p:grpSpPr>
          <a:xfrm>
            <a:off x="618806" y="2617811"/>
            <a:ext cx="7924342" cy="3685740"/>
            <a:chOff x="135764" y="1832"/>
            <a:chExt cx="7924342" cy="3685740"/>
          </a:xfrm>
        </p:grpSpPr>
        <p:sp>
          <p:nvSpPr>
            <p:cNvPr id="259" name="Google Shape;259;p10"/>
            <p:cNvSpPr/>
            <p:nvPr/>
          </p:nvSpPr>
          <p:spPr>
            <a:xfrm>
              <a:off x="135764" y="1832"/>
              <a:ext cx="1842870" cy="110572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 txBox="1"/>
            <p:nvPr/>
          </p:nvSpPr>
          <p:spPr>
            <a:xfrm>
              <a:off x="135764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1.Esperar del analista que hable su lenguaje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2162921" y="1832"/>
              <a:ext cx="1842870" cy="1105722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2162921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2.Que el analista aprenda sobre su negocio y sus objetivos</a:t>
              </a: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4190079" y="1832"/>
              <a:ext cx="1842870" cy="1105722"/>
            </a:xfrm>
            <a:prstGeom prst="rect">
              <a:avLst/>
            </a:prstGeom>
            <a:solidFill>
              <a:srgbClr val="7E61A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0"/>
            <p:cNvSpPr txBox="1"/>
            <p:nvPr/>
          </p:nvSpPr>
          <p:spPr>
            <a:xfrm>
              <a:off x="4190079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3.Que el analista escriba una Especificación de Requerimientos de Software</a:t>
              </a: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6217236" y="1832"/>
              <a:ext cx="1842870" cy="1105722"/>
            </a:xfrm>
            <a:prstGeom prst="rect">
              <a:avLst/>
            </a:prstGeom>
            <a:solidFill>
              <a:srgbClr val="4AA9C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0"/>
            <p:cNvSpPr txBox="1"/>
            <p:nvPr/>
          </p:nvSpPr>
          <p:spPr>
            <a:xfrm>
              <a:off x="6217236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4.Recibir explicaciones de los productos creados en el proceso de requerimientos</a:t>
              </a: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135764" y="1291841"/>
              <a:ext cx="1842870" cy="1105722"/>
            </a:xfrm>
            <a:prstGeom prst="rect">
              <a:avLst/>
            </a:prstGeom>
            <a:solidFill>
              <a:srgbClr val="F5954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135764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5.Esperar de los desarrolladores un trato respetuoso</a:t>
              </a: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2162921" y="1291841"/>
              <a:ext cx="1842870" cy="110572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0"/>
            <p:cNvSpPr txBox="1"/>
            <p:nvPr/>
          </p:nvSpPr>
          <p:spPr>
            <a:xfrm>
              <a:off x="2162921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6.Obtener de los analistas y desarrolladores ideas y alternativas para los requerimientos y su implementación</a:t>
              </a: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4190079" y="1291841"/>
              <a:ext cx="1842870" cy="1105722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0"/>
            <p:cNvSpPr txBox="1"/>
            <p:nvPr/>
          </p:nvSpPr>
          <p:spPr>
            <a:xfrm>
              <a:off x="4190079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7.Describir características del producto que lo hagan simple y agradable de usar</a:t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6217236" y="1291841"/>
              <a:ext cx="1842870" cy="1105722"/>
            </a:xfrm>
            <a:prstGeom prst="rect">
              <a:avLst/>
            </a:prstGeom>
            <a:solidFill>
              <a:srgbClr val="7E61A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0"/>
            <p:cNvSpPr txBox="1"/>
            <p:nvPr/>
          </p:nvSpPr>
          <p:spPr>
            <a:xfrm>
              <a:off x="6217236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8.Manejar opciones de ajustar sus requerimientos para permitir la reutilización de componentes de software preexistentes</a:t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2162921" y="2581850"/>
              <a:ext cx="1842870" cy="1105722"/>
            </a:xfrm>
            <a:prstGeom prst="rect">
              <a:avLst/>
            </a:prstGeom>
            <a:solidFill>
              <a:srgbClr val="4AA9C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0"/>
            <p:cNvSpPr txBox="1"/>
            <p:nvPr/>
          </p:nvSpPr>
          <p:spPr>
            <a:xfrm>
              <a:off x="2162921" y="2581850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9.Recibir estimaciones de buena fe de costos de los cambios</a:t>
              </a: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4190079" y="2581850"/>
              <a:ext cx="1842870" cy="1105722"/>
            </a:xfrm>
            <a:prstGeom prst="rect">
              <a:avLst/>
            </a:prstGeom>
            <a:solidFill>
              <a:srgbClr val="F5954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 txBox="1"/>
            <p:nvPr/>
          </p:nvSpPr>
          <p:spPr>
            <a:xfrm>
              <a:off x="4190079" y="2581850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10.Recibir un sistema que satisfaga sus necesidades funcionales y de calidad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 flipH="1" rot="-5400000">
            <a:off x="3486646" y="-3486043"/>
            <a:ext cx="2170709" cy="9144000"/>
          </a:xfrm>
          <a:prstGeom prst="rect">
            <a:avLst/>
          </a:prstGeom>
          <a:gradFill>
            <a:gsLst>
              <a:gs pos="0">
                <a:srgbClr val="366092">
                  <a:alpha val="16078"/>
                </a:srgbClr>
              </a:gs>
              <a:gs pos="23000">
                <a:srgbClr val="366092">
                  <a:alpha val="16078"/>
                </a:srgbClr>
              </a:gs>
              <a:gs pos="99000">
                <a:srgbClr val="000000">
                  <a:alpha val="45098"/>
                </a:srgbClr>
              </a:gs>
              <a:gs pos="100000">
                <a:srgbClr val="000000">
                  <a:alpha val="45098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>
            <p:ph type="title"/>
          </p:nvPr>
        </p:nvSpPr>
        <p:spPr>
          <a:xfrm>
            <a:off x="1037673" y="348865"/>
            <a:ext cx="7288583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El contrato social de los requerimientos Deberes del usuario</a:t>
            </a:r>
            <a:endParaRPr sz="3500">
              <a:solidFill>
                <a:srgbClr val="FFFFFF"/>
              </a:solidFill>
            </a:endParaRPr>
          </a:p>
        </p:txBody>
      </p:sp>
      <p:grpSp>
        <p:nvGrpSpPr>
          <p:cNvPr id="288" name="Google Shape;288;p11"/>
          <p:cNvGrpSpPr/>
          <p:nvPr/>
        </p:nvGrpSpPr>
        <p:grpSpPr>
          <a:xfrm>
            <a:off x="618806" y="2617811"/>
            <a:ext cx="7924342" cy="3685740"/>
            <a:chOff x="135764" y="1832"/>
            <a:chExt cx="7924342" cy="3685740"/>
          </a:xfrm>
        </p:grpSpPr>
        <p:sp>
          <p:nvSpPr>
            <p:cNvPr id="289" name="Google Shape;289;p11"/>
            <p:cNvSpPr/>
            <p:nvPr/>
          </p:nvSpPr>
          <p:spPr>
            <a:xfrm>
              <a:off x="135764" y="1832"/>
              <a:ext cx="1842870" cy="110572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 txBox="1"/>
            <p:nvPr/>
          </p:nvSpPr>
          <p:spPr>
            <a:xfrm>
              <a:off x="135764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1.Educar a los analistas y desarrolladores en su negocio</a:t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2162921" y="1832"/>
              <a:ext cx="1842870" cy="1105722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1"/>
            <p:cNvSpPr txBox="1"/>
            <p:nvPr/>
          </p:nvSpPr>
          <p:spPr>
            <a:xfrm>
              <a:off x="2162921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2.Destinar tiempo a proveer y clarificar los negocios</a:t>
              </a:r>
              <a:endParaRPr/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4190079" y="1832"/>
              <a:ext cx="1842870" cy="1105722"/>
            </a:xfrm>
            <a:prstGeom prst="rect">
              <a:avLst/>
            </a:prstGeom>
            <a:solidFill>
              <a:srgbClr val="7E61A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 txBox="1"/>
            <p:nvPr/>
          </p:nvSpPr>
          <p:spPr>
            <a:xfrm>
              <a:off x="4190079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3.Ser específico y preciso acerca de los requerimientos</a:t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6217236" y="1832"/>
              <a:ext cx="1842870" cy="1105722"/>
            </a:xfrm>
            <a:prstGeom prst="rect">
              <a:avLst/>
            </a:prstGeom>
            <a:solidFill>
              <a:srgbClr val="4AA9C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 txBox="1"/>
            <p:nvPr/>
          </p:nvSpPr>
          <p:spPr>
            <a:xfrm>
              <a:off x="6217236" y="1832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4.Tomar decisiones a tiempo</a:t>
              </a:r>
              <a:endParaRPr/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135764" y="1291841"/>
              <a:ext cx="1842870" cy="1105722"/>
            </a:xfrm>
            <a:prstGeom prst="rect">
              <a:avLst/>
            </a:prstGeom>
            <a:solidFill>
              <a:srgbClr val="F5954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1"/>
            <p:cNvSpPr txBox="1"/>
            <p:nvPr/>
          </p:nvSpPr>
          <p:spPr>
            <a:xfrm>
              <a:off x="135764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5.Respetar las evaluaciones de los desarrolladores de costo y factibilidad</a:t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162921" y="1291841"/>
              <a:ext cx="1842870" cy="1105722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 txBox="1"/>
            <p:nvPr/>
          </p:nvSpPr>
          <p:spPr>
            <a:xfrm>
              <a:off x="2162921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6.Establecer prioridades a los requerimientos</a:t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4190079" y="1291841"/>
              <a:ext cx="1842870" cy="1105722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1"/>
            <p:cNvSpPr txBox="1"/>
            <p:nvPr/>
          </p:nvSpPr>
          <p:spPr>
            <a:xfrm>
              <a:off x="4190079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7.Revisar los documentos de requerimientos y evaluar prototipos</a:t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6217236" y="1291841"/>
              <a:ext cx="1842870" cy="1105722"/>
            </a:xfrm>
            <a:prstGeom prst="rect">
              <a:avLst/>
            </a:prstGeom>
            <a:solidFill>
              <a:srgbClr val="7E61A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6217236" y="1291841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8.Comunicar los cambios a los requerimientos</a:t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2162921" y="2581850"/>
              <a:ext cx="1842870" cy="1105722"/>
            </a:xfrm>
            <a:prstGeom prst="rect">
              <a:avLst/>
            </a:prstGeom>
            <a:solidFill>
              <a:srgbClr val="4AA9C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 txBox="1"/>
            <p:nvPr/>
          </p:nvSpPr>
          <p:spPr>
            <a:xfrm>
              <a:off x="2162921" y="2581850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9.Seguir el proceso de cambios de la organización de desarrollo</a:t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4190079" y="2581850"/>
              <a:ext cx="1842870" cy="1105722"/>
            </a:xfrm>
            <a:prstGeom prst="rect">
              <a:avLst/>
            </a:prstGeom>
            <a:solidFill>
              <a:srgbClr val="F5954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 txBox="1"/>
            <p:nvPr/>
          </p:nvSpPr>
          <p:spPr>
            <a:xfrm>
              <a:off x="4190079" y="2581850"/>
              <a:ext cx="1842870" cy="1105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10.Respetar el proceso de Ingeniería de Requerimientos que el analista utiliza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0" y="0"/>
            <a:ext cx="3614166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0" y="0"/>
            <a:ext cx="3608608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 txBox="1"/>
          <p:nvPr>
            <p:ph type="title"/>
          </p:nvPr>
        </p:nvSpPr>
        <p:spPr>
          <a:xfrm>
            <a:off x="466344" y="1161288"/>
            <a:ext cx="2702052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Actividad grupal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12"/>
          <p:cNvGrpSpPr/>
          <p:nvPr/>
        </p:nvGrpSpPr>
        <p:grpSpPr>
          <a:xfrm>
            <a:off x="3977640" y="678944"/>
            <a:ext cx="4773168" cy="5509255"/>
            <a:chOff x="0" y="2288"/>
            <a:chExt cx="4773168" cy="5509255"/>
          </a:xfrm>
        </p:grpSpPr>
        <p:sp>
          <p:nvSpPr>
            <p:cNvPr id="320" name="Google Shape;320;p12"/>
            <p:cNvSpPr/>
            <p:nvPr/>
          </p:nvSpPr>
          <p:spPr>
            <a:xfrm>
              <a:off x="0" y="2288"/>
              <a:ext cx="4773168" cy="115984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350852" y="263253"/>
              <a:ext cx="637913" cy="63791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1339618" y="2288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2"/>
            <p:cNvSpPr txBox="1"/>
            <p:nvPr/>
          </p:nvSpPr>
          <p:spPr>
            <a:xfrm>
              <a:off x="1339618" y="2288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Caso: Sistema de turnos en un hospital</a:t>
              </a:r>
              <a:endParaRPr/>
            </a:p>
          </p:txBody>
        </p:sp>
        <p:sp>
          <p:nvSpPr>
            <p:cNvPr id="324" name="Google Shape;324;p12"/>
            <p:cNvSpPr/>
            <p:nvPr/>
          </p:nvSpPr>
          <p:spPr>
            <a:xfrm>
              <a:off x="0" y="1452092"/>
              <a:ext cx="4773168" cy="115984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350852" y="1713057"/>
              <a:ext cx="637913" cy="63791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2"/>
            <p:cNvSpPr/>
            <p:nvPr/>
          </p:nvSpPr>
          <p:spPr>
            <a:xfrm>
              <a:off x="1339618" y="1452092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2"/>
            <p:cNvSpPr txBox="1"/>
            <p:nvPr/>
          </p:nvSpPr>
          <p:spPr>
            <a:xfrm>
              <a:off x="1339618" y="1452092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Identificar 5 stakeholders</a:t>
              </a:r>
              <a:endParaRPr/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0" y="2901896"/>
              <a:ext cx="4773168" cy="115984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350852" y="3162861"/>
              <a:ext cx="637913" cy="63791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2"/>
            <p:cNvSpPr/>
            <p:nvPr/>
          </p:nvSpPr>
          <p:spPr>
            <a:xfrm>
              <a:off x="1339618" y="2901896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2"/>
            <p:cNvSpPr txBox="1"/>
            <p:nvPr/>
          </p:nvSpPr>
          <p:spPr>
            <a:xfrm>
              <a:off x="1339618" y="2901896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Clasificarlos según interés</a:t>
              </a:r>
              <a:endParaRPr/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0" y="4351700"/>
              <a:ext cx="4773168" cy="1159843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350852" y="4612665"/>
              <a:ext cx="637913" cy="63791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1339618" y="4351700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2"/>
            <p:cNvSpPr txBox="1"/>
            <p:nvPr/>
          </p:nvSpPr>
          <p:spPr>
            <a:xfrm>
              <a:off x="1339618" y="4351700"/>
              <a:ext cx="3433549" cy="1159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750" lIns="122750" spcFirstLastPara="1" rIns="122750" wrap="square" tIns="122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Debatir posibles conflictos o gaps semánticos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Gaby Caliva</dc:creator>
</cp:coreProperties>
</file>