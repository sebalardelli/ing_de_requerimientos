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jZIQrx6ZsLi63JslHAnxszpEyj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a57a1bb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fa57a1bbe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a57a1bbe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fa57a1bbef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a57a1bbe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Técnicas de elicitación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Entrevistas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Observación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Encuestas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Talleres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Análisis documental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Prototipos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Conversaciones con stakeholders</a:t>
            </a:r>
            <a:endParaRPr/>
          </a:p>
        </p:txBody>
      </p:sp>
      <p:sp>
        <p:nvSpPr>
          <p:cNvPr id="162" name="Google Shape;162;g3fa57a1bbef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a57a1bbe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fa57a1bbef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a57a1bbe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fa57a1bbef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a57a1bbe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fa57a1bbef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a57a1bbe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fa57a1bbef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>
            <p:ph type="ctrTitle"/>
          </p:nvPr>
        </p:nvSpPr>
        <p:spPr>
          <a:xfrm>
            <a:off x="728181" y="1220919"/>
            <a:ext cx="406933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Clase 5 </a:t>
            </a:r>
            <a:br>
              <a:rPr lang="en-US"/>
            </a:br>
            <a:r>
              <a:rPr lang="en-US"/>
              <a:t>Procesos de RE y Elicitación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7656521" y="1"/>
            <a:ext cx="851299" cy="477997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cap="flat" cmpd="sng" w="1270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 rot="-5400000">
            <a:off x="6385863" y="1500844"/>
            <a:ext cx="2387600" cy="1790700"/>
          </a:xfrm>
          <a:prstGeom prst="blockArc">
            <a:avLst>
              <a:gd fmla="val 10800000" name="adj1"/>
              <a:gd fmla="val 0" name="adj2"/>
              <a:gd fmla="val 25000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115982" y="0"/>
            <a:ext cx="1736438" cy="1550992"/>
          </a:xfrm>
          <a:custGeom>
            <a:rect b="b" l="l" r="r" t="t"/>
            <a:pathLst>
              <a:path extrusionOk="0" h="1550992" w="2315251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"/>
          <p:cNvCxnSpPr/>
          <p:nvPr/>
        </p:nvCxnSpPr>
        <p:spPr>
          <a:xfrm>
            <a:off x="8793478" y="1331572"/>
            <a:ext cx="0" cy="1597708"/>
          </a:xfrm>
          <a:prstGeom prst="straightConnector1">
            <a:avLst/>
          </a:prstGeom>
          <a:noFill/>
          <a:ln cap="rnd" cmpd="sng" w="1270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1" name="Google Shape;91;p1"/>
          <p:cNvSpPr/>
          <p:nvPr/>
        </p:nvSpPr>
        <p:spPr>
          <a:xfrm>
            <a:off x="8254162" y="4112081"/>
            <a:ext cx="889838" cy="1771650"/>
          </a:xfrm>
          <a:custGeom>
            <a:rect b="b" l="l" r="r" t="t"/>
            <a:pathLst>
              <a:path extrusionOk="0" h="1771650" w="1186451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 rot="-607105">
            <a:off x="4565205" y="4145122"/>
            <a:ext cx="3062574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5115982" y="4962670"/>
            <a:ext cx="1982514" cy="1895331"/>
          </a:xfrm>
          <a:custGeom>
            <a:rect b="b" l="l" r="r" t="t"/>
            <a:pathLst>
              <a:path extrusionOk="0" h="1895331" w="2643352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>
            <p:ph type="title"/>
          </p:nvPr>
        </p:nvSpPr>
        <p:spPr>
          <a:xfrm>
            <a:off x="476250" y="640823"/>
            <a:ext cx="2563994" cy="5583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alibri"/>
              <a:buNone/>
            </a:pPr>
            <a:r>
              <a:rPr lang="en-US" sz="4700"/>
              <a:t>Objetivos de la clase</a:t>
            </a:r>
            <a:endParaRPr sz="4700"/>
          </a:p>
        </p:txBody>
      </p:sp>
      <p:sp>
        <p:nvSpPr>
          <p:cNvPr id="100" name="Google Shape;100;p2"/>
          <p:cNvSpPr/>
          <p:nvPr/>
        </p:nvSpPr>
        <p:spPr>
          <a:xfrm rot="5400000">
            <a:off x="544313" y="3465005"/>
            <a:ext cx="5410200" cy="13716"/>
          </a:xfrm>
          <a:custGeom>
            <a:rect b="b" l="l" r="r" t="t"/>
            <a:pathLst>
              <a:path extrusionOk="0" fill="none" h="13716" w="541020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extrusionOk="0" h="13716" w="541020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3486013" y="821200"/>
            <a:ext cx="5175384" cy="5175384"/>
            <a:chOff x="0" y="180378"/>
            <a:chExt cx="5175384" cy="5175384"/>
          </a:xfrm>
        </p:grpSpPr>
        <p:sp>
          <p:nvSpPr>
            <p:cNvPr id="102" name="Google Shape;102;p2"/>
            <p:cNvSpPr/>
            <p:nvPr/>
          </p:nvSpPr>
          <p:spPr>
            <a:xfrm>
              <a:off x="0" y="180378"/>
              <a:ext cx="5175384" cy="5175384"/>
            </a:xfrm>
            <a:prstGeom prst="diamond">
              <a:avLst/>
            </a:prstGeom>
            <a:solidFill>
              <a:srgbClr val="E7CF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491661" y="672039"/>
              <a:ext cx="2018399" cy="2018399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590191" y="770569"/>
              <a:ext cx="1821339" cy="1821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Comprender los procesos centrales de la Ingeniería de Requerimientos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2665322" y="672039"/>
              <a:ext cx="2018399" cy="2018399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2763852" y="770569"/>
              <a:ext cx="1821339" cy="1821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Analizar la importancia de la gestión de requerimientos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91661" y="2845701"/>
              <a:ext cx="2018399" cy="2018399"/>
            </a:xfrm>
            <a:prstGeom prst="roundRect">
              <a:avLst>
                <a:gd fmla="val 16667" name="adj"/>
              </a:avLst>
            </a:prstGeom>
            <a:solidFill>
              <a:srgbClr val="7E61A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590191" y="2944231"/>
              <a:ext cx="1821339" cy="1821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Conocer técnicas de elicitación, especificación y validación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2665322" y="2845701"/>
              <a:ext cx="2018399" cy="2018399"/>
            </a:xfrm>
            <a:prstGeom prst="roundRect">
              <a:avLst>
                <a:gd fmla="val 16667" name="adj"/>
              </a:avLst>
            </a:prstGeom>
            <a:solidFill>
              <a:srgbClr val="4AA9C4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2763852" y="2944231"/>
              <a:ext cx="1821339" cy="1821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Experimentar con el uso de IA como apoyo en la elicitación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>
            <p:ph type="title"/>
          </p:nvPr>
        </p:nvSpPr>
        <p:spPr>
          <a:xfrm>
            <a:off x="630936" y="548640"/>
            <a:ext cx="2700645" cy="5431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Introducción</a:t>
            </a:r>
            <a:endParaRPr sz="3600"/>
          </a:p>
        </p:txBody>
      </p:sp>
      <p:sp>
        <p:nvSpPr>
          <p:cNvPr id="117" name="Google Shape;117;p3"/>
          <p:cNvSpPr/>
          <p:nvPr/>
        </p:nvSpPr>
        <p:spPr>
          <a:xfrm rot="5400000">
            <a:off x="1347917" y="3261001"/>
            <a:ext cx="4480560" cy="13716"/>
          </a:xfrm>
          <a:custGeom>
            <a:rect b="b" l="l" r="r" t="t"/>
            <a:pathLst>
              <a:path extrusionOk="0" fill="none" h="13716" w="448056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extrusionOk="0" h="13716" w="448056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>
            <p:ph idx="1" type="body"/>
          </p:nvPr>
        </p:nvSpPr>
        <p:spPr>
          <a:xfrm>
            <a:off x="3844813" y="552091"/>
            <a:ext cx="4668251" cy="5431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en-US" sz="2400"/>
              <a:t>“If you can’t describe what you are doing as a process,  you don’t know what you are doing.” </a:t>
            </a:r>
            <a:r>
              <a:rPr lang="en-US" sz="1900"/>
              <a:t>– W. Edwards Deming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a57a1bbef_0_0"/>
          <p:cNvSpPr/>
          <p:nvPr/>
        </p:nvSpPr>
        <p:spPr>
          <a:xfrm>
            <a:off x="0" y="0"/>
            <a:ext cx="91416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fa57a1bbef_0_0"/>
          <p:cNvSpPr txBox="1"/>
          <p:nvPr>
            <p:ph type="title"/>
          </p:nvPr>
        </p:nvSpPr>
        <p:spPr>
          <a:xfrm>
            <a:off x="628650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700"/>
              <a:t>Qué hace un analista de requerimientos?</a:t>
            </a:r>
            <a:endParaRPr/>
          </a:p>
        </p:txBody>
      </p:sp>
      <p:sp>
        <p:nvSpPr>
          <p:cNvPr id="125" name="Google Shape;125;g3fa57a1bbef_0_0"/>
          <p:cNvSpPr/>
          <p:nvPr/>
        </p:nvSpPr>
        <p:spPr>
          <a:xfrm>
            <a:off x="501777" y="1677373"/>
            <a:ext cx="8140446" cy="18288"/>
          </a:xfrm>
          <a:custGeom>
            <a:rect b="b" l="l" r="r" t="t"/>
            <a:pathLst>
              <a:path extrusionOk="0" fill="none" h="18288" w="8140446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extrusionOk="0" h="18288" w="8140446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fa57a1bbef_0_0"/>
          <p:cNvSpPr txBox="1"/>
          <p:nvPr>
            <p:ph idx="1" type="body"/>
          </p:nvPr>
        </p:nvSpPr>
        <p:spPr>
          <a:xfrm>
            <a:off x="628650" y="1929384"/>
            <a:ext cx="7886700" cy="42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3429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No comienza escribiendo requerimientos. Primero necesita:</a:t>
            </a:r>
            <a:endParaRPr/>
          </a:p>
          <a:p>
            <a:pPr indent="0" lvl="0" marL="3429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b="1" lang="en-US"/>
              <a:t>Comprender → Preguntar → Escuchar → Interpretar → Analizar → Especificar → Validar</a:t>
            </a:r>
            <a:endParaRPr b="1"/>
          </a:p>
          <a:p>
            <a:pPr indent="0" lvl="0" marL="3429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Y muchas veces:</a:t>
            </a:r>
            <a:endParaRPr/>
          </a:p>
          <a:p>
            <a:pPr indent="0" lvl="0" marL="3429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lang="en-US"/>
              <a:t>                                volver a preguntar.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a57a1bbef_0_9"/>
          <p:cNvSpPr/>
          <p:nvPr/>
        </p:nvSpPr>
        <p:spPr>
          <a:xfrm>
            <a:off x="0" y="0"/>
            <a:ext cx="91416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fa57a1bbef_0_9"/>
          <p:cNvSpPr txBox="1"/>
          <p:nvPr>
            <p:ph type="title"/>
          </p:nvPr>
        </p:nvSpPr>
        <p:spPr>
          <a:xfrm>
            <a:off x="628650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30"/>
              <a:buFont typeface="Calibri"/>
              <a:buNone/>
            </a:pPr>
            <a:r>
              <a:rPr lang="en-US" sz="4030"/>
              <a:t>Nuestra empresa quiere desarrollar una billetera virtual para sus clientes</a:t>
            </a:r>
            <a:endParaRPr sz="3760"/>
          </a:p>
        </p:txBody>
      </p:sp>
      <p:sp>
        <p:nvSpPr>
          <p:cNvPr id="133" name="Google Shape;133;g3fa57a1bbef_0_9"/>
          <p:cNvSpPr/>
          <p:nvPr/>
        </p:nvSpPr>
        <p:spPr>
          <a:xfrm>
            <a:off x="501777" y="1989100"/>
            <a:ext cx="8140446" cy="18288"/>
          </a:xfrm>
          <a:custGeom>
            <a:rect b="b" l="l" r="r" t="t"/>
            <a:pathLst>
              <a:path extrusionOk="0" fill="none" h="18288" w="8140446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extrusionOk="0" h="18288" w="8140446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fa57a1bbef_0_9"/>
          <p:cNvSpPr txBox="1"/>
          <p:nvPr>
            <p:ph idx="1" type="body"/>
          </p:nvPr>
        </p:nvSpPr>
        <p:spPr>
          <a:xfrm>
            <a:off x="628650" y="2305675"/>
            <a:ext cx="7886700" cy="43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34290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4308"/>
              <a:t>¿Qué sabemos?</a:t>
            </a:r>
            <a:endParaRPr sz="4308"/>
          </a:p>
          <a:p>
            <a:pPr indent="0" lvl="0" marL="34290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4308"/>
          </a:p>
          <a:p>
            <a:pPr indent="0" lvl="0" marL="34290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4308"/>
              <a:t>¿Qué necesitamos saber antes de construir?</a:t>
            </a:r>
            <a:endParaRPr sz="4308"/>
          </a:p>
          <a:p>
            <a:pPr indent="0" lvl="0" marL="34290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4308"/>
          </a:p>
          <a:p>
            <a:pPr indent="0" lvl="0" marL="34290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4308"/>
              <a:t>¿Qué preguntas harías? </a:t>
            </a:r>
            <a:endParaRPr sz="4308"/>
          </a:p>
          <a:p>
            <a:pPr indent="0" lvl="0" marL="3429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/>
          <p:nvPr/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0" y="0"/>
            <a:ext cx="3125454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 txBox="1"/>
          <p:nvPr>
            <p:ph type="title"/>
          </p:nvPr>
        </p:nvSpPr>
        <p:spPr>
          <a:xfrm>
            <a:off x="515125" y="1153572"/>
            <a:ext cx="2400300" cy="4461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FFFFFF"/>
                </a:solidFill>
              </a:rPr>
              <a:t>Procesos de la Ingeniería de Requerimientos</a:t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 flipH="1" rot="10800000">
            <a:off x="5662801" y="2455479"/>
            <a:ext cx="3062575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 txBox="1"/>
          <p:nvPr>
            <p:ph idx="1" type="body"/>
          </p:nvPr>
        </p:nvSpPr>
        <p:spPr>
          <a:xfrm>
            <a:off x="3335481" y="591344"/>
            <a:ext cx="5179868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Según Loucopoulos: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Elicitación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Especificación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Validación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Gestión de requerimientos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Todos forman parte del ciclo de vida del software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/>
          <p:nvPr>
            <p:ph type="title"/>
          </p:nvPr>
        </p:nvSpPr>
        <p:spPr>
          <a:xfrm>
            <a:off x="476250" y="640823"/>
            <a:ext cx="2563994" cy="5583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</a:pPr>
            <a:r>
              <a:rPr lang="en-US" sz="2900"/>
              <a:t>Elicitación de requerimientos</a:t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 rot="5400000">
            <a:off x="544313" y="3465005"/>
            <a:ext cx="5410200" cy="13716"/>
          </a:xfrm>
          <a:custGeom>
            <a:rect b="b" l="l" r="r" t="t"/>
            <a:pathLst>
              <a:path extrusionOk="0" fill="none" h="13716" w="541020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extrusionOk="0" h="13716" w="541020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1" name="Google Shape;151;p5"/>
          <p:cNvGrpSpPr/>
          <p:nvPr/>
        </p:nvGrpSpPr>
        <p:grpSpPr>
          <a:xfrm>
            <a:off x="3486013" y="1144132"/>
            <a:ext cx="5175384" cy="4529520"/>
            <a:chOff x="0" y="503310"/>
            <a:chExt cx="5175384" cy="4529520"/>
          </a:xfrm>
        </p:grpSpPr>
        <p:sp>
          <p:nvSpPr>
            <p:cNvPr id="152" name="Google Shape;152;p5"/>
            <p:cNvSpPr/>
            <p:nvPr/>
          </p:nvSpPr>
          <p:spPr>
            <a:xfrm>
              <a:off x="0" y="503310"/>
              <a:ext cx="5175384" cy="107406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5"/>
            <p:cNvSpPr txBox="1"/>
            <p:nvPr/>
          </p:nvSpPr>
          <p:spPr>
            <a:xfrm>
              <a:off x="52431" y="555741"/>
              <a:ext cx="5070522" cy="969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Calibri"/>
                <a:buNone/>
              </a:pPr>
              <a:r>
                <a:rPr lang="en-US" sz="2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Propósito: obtener las necesidades del usuario</a:t>
              </a:r>
              <a:endParaRPr sz="2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0" y="1655130"/>
              <a:ext cx="5175384" cy="1074060"/>
            </a:xfrm>
            <a:prstGeom prst="roundRect">
              <a:avLst>
                <a:gd fmla="val 16667" name="adj"/>
              </a:avLst>
            </a:prstGeom>
            <a:solidFill>
              <a:srgbClr val="BD825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5"/>
            <p:cNvSpPr txBox="1"/>
            <p:nvPr/>
          </p:nvSpPr>
          <p:spPr>
            <a:xfrm>
              <a:off x="52431" y="1707561"/>
              <a:ext cx="5070522" cy="969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Calibri"/>
                <a:buNone/>
              </a:pPr>
              <a:r>
                <a:rPr lang="en-US" sz="2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Inputs: ideas del cliente, contexto del negocio</a:t>
              </a:r>
              <a:endParaRPr sz="2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0" y="2806950"/>
              <a:ext cx="5175384" cy="1074060"/>
            </a:xfrm>
            <a:prstGeom prst="roundRect">
              <a:avLst>
                <a:gd fmla="val 16667" name="adj"/>
              </a:avLst>
            </a:prstGeom>
            <a:solidFill>
              <a:srgbClr val="BCB054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5"/>
            <p:cNvSpPr txBox="1"/>
            <p:nvPr/>
          </p:nvSpPr>
          <p:spPr>
            <a:xfrm>
              <a:off x="52431" y="2859381"/>
              <a:ext cx="5070522" cy="969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Calibri"/>
                <a:buNone/>
              </a:pPr>
              <a:r>
                <a:rPr lang="en-US" sz="2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Actividades: entrevistas, observación, prototipos, encuestas</a:t>
              </a:r>
              <a:endParaRPr sz="2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0" y="3958770"/>
              <a:ext cx="5175384" cy="1074060"/>
            </a:xfrm>
            <a:prstGeom prst="roundRect">
              <a:avLst>
                <a:gd fmla="val 16667" name="adj"/>
              </a:avLst>
            </a:prstGeom>
            <a:solidFill>
              <a:srgbClr val="9ABA5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5"/>
            <p:cNvSpPr txBox="1"/>
            <p:nvPr/>
          </p:nvSpPr>
          <p:spPr>
            <a:xfrm>
              <a:off x="52431" y="4011201"/>
              <a:ext cx="5070522" cy="969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Calibri"/>
                <a:buNone/>
              </a:pPr>
              <a:r>
                <a:rPr lang="en-US" sz="2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Salida: lista inicial de requerimientos</a:t>
              </a:r>
              <a:endParaRPr sz="2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a57a1bbef_0_17"/>
          <p:cNvSpPr/>
          <p:nvPr/>
        </p:nvSpPr>
        <p:spPr>
          <a:xfrm>
            <a:off x="0" y="0"/>
            <a:ext cx="91416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fa57a1bbef_0_17"/>
          <p:cNvSpPr txBox="1"/>
          <p:nvPr>
            <p:ph idx="1" type="body"/>
          </p:nvPr>
        </p:nvSpPr>
        <p:spPr>
          <a:xfrm>
            <a:off x="628650" y="1760075"/>
            <a:ext cx="7886700" cy="48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4608"/>
              <a:t>¿Cuáles de las técnicas de elicitación, elegirías para conocer cómo funciona una billetera virtual?</a:t>
            </a:r>
            <a:endParaRPr sz="4608"/>
          </a:p>
          <a:p>
            <a:pPr indent="0" lvl="0" marL="3429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/>
          <p:nvPr/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55409" y="1011045"/>
            <a:ext cx="3277394" cy="4369859"/>
          </a:xfrm>
          <a:prstGeom prst="roundRect">
            <a:avLst>
              <a:gd fmla="val 275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 txBox="1"/>
          <p:nvPr>
            <p:ph type="title"/>
          </p:nvPr>
        </p:nvSpPr>
        <p:spPr>
          <a:xfrm>
            <a:off x="717619" y="1112969"/>
            <a:ext cx="2952974" cy="4166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Actividad Práctica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3" name="Google Shape;173;p6"/>
          <p:cNvSpPr/>
          <p:nvPr/>
        </p:nvSpPr>
        <p:spPr>
          <a:xfrm flipH="1">
            <a:off x="397896" y="0"/>
            <a:ext cx="866357" cy="591009"/>
          </a:xfrm>
          <a:custGeom>
            <a:rect b="b" l="l" r="r" t="t"/>
            <a:pathLst>
              <a:path extrusionOk="0" h="591009" w="1155142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 flipH="1">
            <a:off x="2971133" y="-1"/>
            <a:ext cx="130305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 flipH="1">
            <a:off x="0" y="2936831"/>
            <a:ext cx="119805" cy="552996"/>
          </a:xfrm>
          <a:custGeom>
            <a:rect b="b" l="l" r="r" t="t"/>
            <a:pathLst>
              <a:path extrusionOk="0" h="552996" w="159741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 txBox="1"/>
          <p:nvPr>
            <p:ph idx="1" type="body"/>
          </p:nvPr>
        </p:nvSpPr>
        <p:spPr>
          <a:xfrm>
            <a:off x="4572000" y="1011050"/>
            <a:ext cx="3943200" cy="55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2000"/>
              <a:t>Preguntar antes de construir</a:t>
            </a:r>
            <a:endParaRPr sz="2840"/>
          </a:p>
          <a:p>
            <a:pPr indent="-215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2000"/>
          </a:p>
          <a:p>
            <a:pPr indent="0" lvl="0" marL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770"/>
              <a:buNone/>
            </a:pPr>
            <a:r>
              <a:rPr lang="en-US" sz="2000"/>
              <a:t>Una empresa tradicional quiere desarrollar su propia billetera virtual. La aplicación permitirá a sus clientes realizar operaciones financieras desde el celular.</a:t>
            </a:r>
            <a:endParaRPr sz="2000"/>
          </a:p>
          <a:p>
            <a:pPr indent="0" lvl="0" marL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2000"/>
          </a:p>
          <a:p>
            <a:pPr indent="0" lvl="0" marL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770"/>
              <a:buNone/>
            </a:pPr>
            <a:r>
              <a:rPr lang="en-US" sz="2000"/>
              <a:t>Pero todavía no sabemos exactamente qué necesita el negocio ni qué esperan los usuarios.</a:t>
            </a:r>
            <a:endParaRPr sz="2000"/>
          </a:p>
          <a:p>
            <a:pPr indent="0" lvl="0" marL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2000"/>
          </a:p>
          <a:p>
            <a:pPr indent="0" lvl="0" marL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770"/>
              <a:buNone/>
            </a:pPr>
            <a:r>
              <a:rPr lang="en-US" sz="2000"/>
              <a:t>Ustedes son el equipo de analistas.</a:t>
            </a:r>
            <a:endParaRPr sz="2000"/>
          </a:p>
          <a:p>
            <a:pPr indent="0" lvl="0" marL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770"/>
              <a:buNone/>
            </a:pPr>
            <a:r>
              <a:rPr lang="en-US" sz="2000"/>
              <a:t>Su primera tarea:</a:t>
            </a:r>
            <a:endParaRPr sz="2000"/>
          </a:p>
          <a:p>
            <a:pPr indent="0" lvl="0" marL="45720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770"/>
              <a:buNone/>
            </a:pPr>
            <a:r>
              <a:rPr lang="en-US" sz="2000"/>
              <a:t>NO diseñar la aplicación.</a:t>
            </a:r>
            <a:endParaRPr sz="2000"/>
          </a:p>
          <a:p>
            <a:pPr indent="0" lvl="0" marL="45720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770"/>
              <a:buNone/>
            </a:pPr>
            <a:r>
              <a:rPr lang="en-US" sz="2000"/>
              <a:t>NO proponer funcionalidades.</a:t>
            </a:r>
            <a:endParaRPr sz="2000"/>
          </a:p>
          <a:p>
            <a:pPr indent="0" lvl="0" marL="45720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770"/>
              <a:buNone/>
            </a:pPr>
            <a:r>
              <a:rPr lang="en-US" sz="2000"/>
              <a:t>PREGUNTAR.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80"/>
              <a:buNone/>
            </a:pPr>
            <a:r>
              <a:t/>
            </a:r>
            <a:endParaRPr sz="980"/>
          </a:p>
        </p:txBody>
      </p:sp>
      <p:sp>
        <p:nvSpPr>
          <p:cNvPr id="177" name="Google Shape;177;p6"/>
          <p:cNvSpPr/>
          <p:nvPr/>
        </p:nvSpPr>
        <p:spPr>
          <a:xfrm flipH="1">
            <a:off x="0" y="5835649"/>
            <a:ext cx="1161135" cy="1022351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 flipH="1">
            <a:off x="2563731" y="5717905"/>
            <a:ext cx="1328706" cy="1140095"/>
          </a:xfrm>
          <a:custGeom>
            <a:rect b="b" l="l" r="r" t="t"/>
            <a:pathLst>
              <a:path extrusionOk="0" h="1140095" w="1771609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 flipH="1">
            <a:off x="3099729" y="6258755"/>
            <a:ext cx="1174455" cy="599245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a57a1bbef_0_25"/>
          <p:cNvSpPr/>
          <p:nvPr/>
        </p:nvSpPr>
        <p:spPr>
          <a:xfrm>
            <a:off x="2286" y="0"/>
            <a:ext cx="91416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fa57a1bbef_0_25"/>
          <p:cNvSpPr/>
          <p:nvPr/>
        </p:nvSpPr>
        <p:spPr>
          <a:xfrm>
            <a:off x="555409" y="1011045"/>
            <a:ext cx="3277500" cy="4369800"/>
          </a:xfrm>
          <a:prstGeom prst="roundRect">
            <a:avLst>
              <a:gd fmla="val 275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fa57a1bbef_0_25"/>
          <p:cNvSpPr txBox="1"/>
          <p:nvPr>
            <p:ph type="title"/>
          </p:nvPr>
        </p:nvSpPr>
        <p:spPr>
          <a:xfrm>
            <a:off x="717619" y="1112969"/>
            <a:ext cx="2952900" cy="41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Actividad Práctica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7" name="Google Shape;187;g3fa57a1bbef_0_25"/>
          <p:cNvSpPr/>
          <p:nvPr/>
        </p:nvSpPr>
        <p:spPr>
          <a:xfrm flipH="1">
            <a:off x="397897" y="0"/>
            <a:ext cx="866357" cy="591009"/>
          </a:xfrm>
          <a:custGeom>
            <a:rect b="b" l="l" r="r" t="t"/>
            <a:pathLst>
              <a:path extrusionOk="0" h="591009" w="1155142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fa57a1bbef_0_25"/>
          <p:cNvSpPr/>
          <p:nvPr/>
        </p:nvSpPr>
        <p:spPr>
          <a:xfrm flipH="1">
            <a:off x="2971133" y="-1"/>
            <a:ext cx="130305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fa57a1bbef_0_25"/>
          <p:cNvSpPr/>
          <p:nvPr/>
        </p:nvSpPr>
        <p:spPr>
          <a:xfrm flipH="1">
            <a:off x="-1" y="2936831"/>
            <a:ext cx="119806" cy="552996"/>
          </a:xfrm>
          <a:custGeom>
            <a:rect b="b" l="l" r="r" t="t"/>
            <a:pathLst>
              <a:path extrusionOk="0" h="552996" w="159741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fa57a1bbef_0_25"/>
          <p:cNvSpPr txBox="1"/>
          <p:nvPr>
            <p:ph idx="1" type="body"/>
          </p:nvPr>
        </p:nvSpPr>
        <p:spPr>
          <a:xfrm>
            <a:off x="4572000" y="1011050"/>
            <a:ext cx="3943200" cy="55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2000"/>
              <a:t>Entrevista a un stakeholder</a:t>
            </a:r>
            <a:endParaRPr sz="2840"/>
          </a:p>
          <a:p>
            <a:pPr indent="-215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2000"/>
          </a:p>
          <a:p>
            <a:pPr indent="0" lvl="0" marL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770"/>
              <a:buNone/>
            </a:pPr>
            <a:r>
              <a:rPr lang="en-US" sz="2000"/>
              <a:t>Utilicen el chatbot para entrevistar a un stakeholder. Formulen preguntas para conocer:</a:t>
            </a:r>
            <a:endParaRPr sz="2000"/>
          </a:p>
          <a:p>
            <a:pPr indent="-355600" lvl="0" marL="45720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sus necesidades;</a:t>
            </a:r>
            <a:endParaRPr sz="2000"/>
          </a:p>
          <a:p>
            <a:pPr indent="-355600" lvl="0" marL="4572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sus expectativas;</a:t>
            </a:r>
            <a:endParaRPr sz="2000"/>
          </a:p>
          <a:p>
            <a:pPr indent="-355600" lvl="0" marL="4572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sus problemas;</a:t>
            </a:r>
            <a:endParaRPr sz="2000"/>
          </a:p>
          <a:p>
            <a:pPr indent="-355600" lvl="0" marL="4572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las reglas del negocio;</a:t>
            </a:r>
            <a:endParaRPr sz="2000"/>
          </a:p>
          <a:p>
            <a:pPr indent="-355600" lvl="0" marL="4572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información que todavía desconocen.</a:t>
            </a:r>
            <a:endParaRPr sz="2000"/>
          </a:p>
          <a:p>
            <a:pPr indent="0" lvl="0" marL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2000"/>
          </a:p>
          <a:p>
            <a:pPr indent="0" lvl="0" marL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770"/>
              <a:buNone/>
            </a:pPr>
            <a:r>
              <a:rPr b="1" lang="en-US" sz="2000"/>
              <a:t>Realicen al menos 7 preguntas.</a:t>
            </a:r>
            <a:endParaRPr b="1" sz="2000"/>
          </a:p>
          <a:p>
            <a:pPr indent="0" lvl="0" marL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2000"/>
          </a:p>
          <a:p>
            <a:pPr indent="0" lvl="0" marL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770"/>
              <a:buNone/>
            </a:pPr>
            <a:r>
              <a:rPr lang="en-US" sz="2000"/>
              <a:t>Registren:</a:t>
            </a:r>
            <a:endParaRPr sz="2000"/>
          </a:p>
          <a:p>
            <a:pPr indent="0" lvl="0" marL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2000"/>
          </a:p>
          <a:p>
            <a:pPr indent="0" lvl="0" marL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770"/>
              <a:buNone/>
            </a:pPr>
            <a:r>
              <a:rPr b="1" lang="en-US" sz="2000"/>
              <a:t>Pregunta → Respuesta → ¿Qué aprendimos? → ¿Qué necesitamos repreguntar?</a:t>
            </a:r>
            <a:endParaRPr b="1" sz="2000"/>
          </a:p>
          <a:p>
            <a:pPr indent="0" lvl="0" marL="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80"/>
              <a:buNone/>
            </a:pPr>
            <a:r>
              <a:t/>
            </a:r>
            <a:endParaRPr sz="980"/>
          </a:p>
        </p:txBody>
      </p:sp>
      <p:sp>
        <p:nvSpPr>
          <p:cNvPr id="191" name="Google Shape;191;g3fa57a1bbef_0_25"/>
          <p:cNvSpPr/>
          <p:nvPr/>
        </p:nvSpPr>
        <p:spPr>
          <a:xfrm flipH="1">
            <a:off x="0" y="5835649"/>
            <a:ext cx="1161135" cy="1022351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fa57a1bbef_0_25"/>
          <p:cNvSpPr/>
          <p:nvPr/>
        </p:nvSpPr>
        <p:spPr>
          <a:xfrm flipH="1">
            <a:off x="2563730" y="5717905"/>
            <a:ext cx="1328707" cy="1140095"/>
          </a:xfrm>
          <a:custGeom>
            <a:rect b="b" l="l" r="r" t="t"/>
            <a:pathLst>
              <a:path extrusionOk="0" h="1140095" w="1771609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fa57a1bbef_0_25"/>
          <p:cNvSpPr/>
          <p:nvPr/>
        </p:nvSpPr>
        <p:spPr>
          <a:xfrm flipH="1">
            <a:off x="3099729" y="6258755"/>
            <a:ext cx="1174455" cy="599245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a57a1bbef_0_38"/>
          <p:cNvSpPr/>
          <p:nvPr/>
        </p:nvSpPr>
        <p:spPr>
          <a:xfrm>
            <a:off x="2286" y="0"/>
            <a:ext cx="91416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fa57a1bbef_0_38"/>
          <p:cNvSpPr/>
          <p:nvPr/>
        </p:nvSpPr>
        <p:spPr>
          <a:xfrm>
            <a:off x="0" y="0"/>
            <a:ext cx="3125453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fa57a1bbef_0_38"/>
          <p:cNvSpPr txBox="1"/>
          <p:nvPr>
            <p:ph type="title"/>
          </p:nvPr>
        </p:nvSpPr>
        <p:spPr>
          <a:xfrm>
            <a:off x="515125" y="1153572"/>
            <a:ext cx="2400300" cy="44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FFFFFF"/>
                </a:solidFill>
              </a:rPr>
              <a:t>Una buena pregunta genera otra pregunta </a:t>
            </a:r>
            <a:endParaRPr/>
          </a:p>
        </p:txBody>
      </p:sp>
      <p:sp>
        <p:nvSpPr>
          <p:cNvPr id="201" name="Google Shape;201;g3fa57a1bbef_0_38"/>
          <p:cNvSpPr/>
          <p:nvPr/>
        </p:nvSpPr>
        <p:spPr>
          <a:xfrm flipH="1" rot="10800000">
            <a:off x="5662801" y="2455612"/>
            <a:ext cx="3062700" cy="4083300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fa57a1bbef_0_38"/>
          <p:cNvSpPr txBox="1"/>
          <p:nvPr>
            <p:ph idx="1" type="body"/>
          </p:nvPr>
        </p:nvSpPr>
        <p:spPr>
          <a:xfrm>
            <a:off x="3335481" y="591344"/>
            <a:ext cx="5179800" cy="55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/>
              <a:t>Stakeholder:</a:t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4572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lang="en-US" sz="2800"/>
              <a:t>“Queremos que las transferencias sean rápidas y seguras.”</a:t>
            </a:r>
            <a:endParaRPr b="1"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/>
              <a:t>Analista:</a:t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379730" lvl="0" marL="457200" rtl="0" algn="l">
              <a:spcBef>
                <a:spcPts val="56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¿Qué significa "rápida"?</a:t>
            </a:r>
            <a:endParaRPr sz="2800"/>
          </a:p>
          <a:p>
            <a:pPr indent="-37973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¿Qué significa "segura"?</a:t>
            </a:r>
            <a:endParaRPr sz="2800"/>
          </a:p>
          <a:p>
            <a:pPr indent="-37973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¿Quién define esas condiciones?</a:t>
            </a:r>
            <a:endParaRPr sz="2800"/>
          </a:p>
          <a:p>
            <a:pPr indent="-37973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¿Qué ocurre cuando una transferencia falla?</a:t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b="1" lang="en-US" sz="2800"/>
              <a:t>L</a:t>
            </a:r>
            <a:r>
              <a:rPr b="1" lang="en-US" sz="2800"/>
              <a:t>as palabras del stakeholder no son automáticamente requerimientos.</a:t>
            </a:r>
            <a:endParaRPr b="1"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700"/>
              <a:t>De la información al requerimiento</a:t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501777" y="1677373"/>
            <a:ext cx="8140446" cy="18288"/>
          </a:xfrm>
          <a:custGeom>
            <a:rect b="b" l="l" r="r" t="t"/>
            <a:pathLst>
              <a:path extrusionOk="0" fill="none" h="18288" w="8140446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extrusionOk="0" h="18288" w="8140446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 txBox="1"/>
          <p:nvPr>
            <p:ph idx="1" type="body"/>
          </p:nvPr>
        </p:nvSpPr>
        <p:spPr>
          <a:xfrm>
            <a:off x="628650" y="1929384"/>
            <a:ext cx="78867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358"/>
              <a:buNone/>
            </a:pPr>
            <a:r>
              <a:rPr lang="en-US" sz="2010"/>
              <a:t>Stakeholder</a:t>
            </a:r>
            <a:endParaRPr sz="2010"/>
          </a:p>
          <a:p>
            <a:pPr indent="45720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358"/>
              <a:buNone/>
            </a:pPr>
            <a:r>
              <a:rPr b="1" lang="en-US" sz="2010"/>
              <a:t>“Necesitamos que nuestros clientes puedan pagar fácilmente.”</a:t>
            </a:r>
            <a:endParaRPr b="1" sz="2010"/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2010"/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358"/>
              <a:buNone/>
            </a:pPr>
            <a:r>
              <a:rPr lang="en-US" sz="2010"/>
              <a:t>Analista pregunta</a:t>
            </a:r>
            <a:endParaRPr sz="2010"/>
          </a:p>
          <a:p>
            <a:pPr indent="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358"/>
              <a:buNone/>
            </a:pPr>
            <a:r>
              <a:rPr b="1" lang="en-US" sz="2010"/>
              <a:t>¿Qué significa "fácilmente"?</a:t>
            </a:r>
            <a:endParaRPr b="1" sz="2010"/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2010"/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358"/>
              <a:buNone/>
            </a:pPr>
            <a:r>
              <a:rPr lang="en-US" sz="2010"/>
              <a:t>Obtiene información</a:t>
            </a:r>
            <a:endParaRPr sz="2010"/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358"/>
              <a:buNone/>
            </a:pPr>
            <a:r>
              <a:rPr b="1" lang="en-US" sz="2010"/>
              <a:t>El cliente debe poder pagar sin tener que cargar nuevamente los datos de su tarjeta.</a:t>
            </a:r>
            <a:endParaRPr b="1" sz="2010"/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2010"/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358"/>
              <a:buNone/>
            </a:pPr>
            <a:r>
              <a:rPr lang="en-US" sz="2010"/>
              <a:t>Requerimiento</a:t>
            </a:r>
            <a:endParaRPr sz="2010"/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358"/>
              <a:buNone/>
            </a:pPr>
            <a:r>
              <a:rPr b="1" lang="en-US" sz="2010"/>
              <a:t>El sistema deberá permitir al cliente realizar pagos utilizando los medios de pago previamente registrados.</a:t>
            </a:r>
            <a:endParaRPr b="1" sz="201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a57a1bbef_0_59"/>
          <p:cNvSpPr/>
          <p:nvPr/>
        </p:nvSpPr>
        <p:spPr>
          <a:xfrm>
            <a:off x="119900" y="0"/>
            <a:ext cx="91416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fa57a1bbef_0_59"/>
          <p:cNvSpPr txBox="1"/>
          <p:nvPr>
            <p:ph type="title"/>
          </p:nvPr>
        </p:nvSpPr>
        <p:spPr>
          <a:xfrm>
            <a:off x="628650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700"/>
              <a:t>¿Qué hace que un requerimiento sea bueno?</a:t>
            </a:r>
            <a:endParaRPr/>
          </a:p>
        </p:txBody>
      </p:sp>
      <p:sp>
        <p:nvSpPr>
          <p:cNvPr id="217" name="Google Shape;217;g3fa57a1bbef_0_59"/>
          <p:cNvSpPr/>
          <p:nvPr/>
        </p:nvSpPr>
        <p:spPr>
          <a:xfrm>
            <a:off x="501777" y="1677373"/>
            <a:ext cx="8140446" cy="18288"/>
          </a:xfrm>
          <a:custGeom>
            <a:rect b="b" l="l" r="r" t="t"/>
            <a:pathLst>
              <a:path extrusionOk="0" fill="none" h="18288" w="8140446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extrusionOk="0" h="18288" w="8140446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fa57a1bbef_0_59"/>
          <p:cNvSpPr txBox="1"/>
          <p:nvPr>
            <p:ph idx="1" type="body"/>
          </p:nvPr>
        </p:nvSpPr>
        <p:spPr>
          <a:xfrm>
            <a:off x="628650" y="1929384"/>
            <a:ext cx="7886700" cy="42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358"/>
              <a:buNone/>
            </a:pPr>
            <a:r>
              <a:rPr lang="en-US" sz="3010"/>
              <a:t>Debe ser:</a:t>
            </a:r>
            <a:endParaRPr sz="3010"/>
          </a:p>
          <a:p>
            <a:pPr indent="-419735" lvl="0" marL="9144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3010"/>
              <a:buChar char="•"/>
            </a:pPr>
            <a:r>
              <a:rPr lang="en-US" sz="3010"/>
              <a:t>claro;</a:t>
            </a:r>
            <a:endParaRPr sz="3010"/>
          </a:p>
          <a:p>
            <a:pPr indent="-419735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10"/>
              <a:buChar char="•"/>
            </a:pPr>
            <a:r>
              <a:rPr lang="en-US" sz="3010"/>
              <a:t>preciso;</a:t>
            </a:r>
            <a:endParaRPr sz="3010"/>
          </a:p>
          <a:p>
            <a:pPr indent="-419735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10"/>
              <a:buChar char="•"/>
            </a:pPr>
            <a:r>
              <a:rPr lang="en-US" sz="3010"/>
              <a:t>consistente;</a:t>
            </a:r>
            <a:endParaRPr sz="3010"/>
          </a:p>
          <a:p>
            <a:pPr indent="-419735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10"/>
              <a:buChar char="•"/>
            </a:pPr>
            <a:r>
              <a:rPr lang="en-US" sz="3010"/>
              <a:t>verificable;</a:t>
            </a:r>
            <a:endParaRPr sz="3010"/>
          </a:p>
          <a:p>
            <a:pPr indent="-419735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10"/>
              <a:buChar char="•"/>
            </a:pPr>
            <a:r>
              <a:rPr lang="en-US" sz="3010"/>
              <a:t>factible.</a:t>
            </a:r>
            <a:endParaRPr sz="3010"/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2710"/>
          </a:p>
          <a:p>
            <a:pPr indent="0" lvl="0" marL="0" rtl="0" algn="ctr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358"/>
              <a:buNone/>
            </a:pPr>
            <a:r>
              <a:rPr b="1" lang="en-US" sz="2710"/>
              <a:t>Un requerimiento ambiguo puede generar diferentes interpretaciones.</a:t>
            </a:r>
            <a:endParaRPr b="1" sz="271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 txBox="1"/>
          <p:nvPr>
            <p:ph type="title"/>
          </p:nvPr>
        </p:nvSpPr>
        <p:spPr>
          <a:xfrm>
            <a:off x="476250" y="640823"/>
            <a:ext cx="2563994" cy="5583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</a:pPr>
            <a:r>
              <a:rPr lang="en-US" sz="2900"/>
              <a:t>Especificación de requerimientos</a:t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 rot="5400000">
            <a:off x="544313" y="3465005"/>
            <a:ext cx="5410200" cy="13716"/>
          </a:xfrm>
          <a:custGeom>
            <a:rect b="b" l="l" r="r" t="t"/>
            <a:pathLst>
              <a:path extrusionOk="0" fill="none" h="13716" w="541020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extrusionOk="0" h="13716" w="541020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6" name="Google Shape;226;p7"/>
          <p:cNvGrpSpPr/>
          <p:nvPr/>
        </p:nvGrpSpPr>
        <p:grpSpPr>
          <a:xfrm>
            <a:off x="3486013" y="1060252"/>
            <a:ext cx="5175384" cy="4697280"/>
            <a:chOff x="0" y="419430"/>
            <a:chExt cx="5175384" cy="4697280"/>
          </a:xfrm>
        </p:grpSpPr>
        <p:sp>
          <p:nvSpPr>
            <p:cNvPr id="227" name="Google Shape;227;p7"/>
            <p:cNvSpPr/>
            <p:nvPr/>
          </p:nvSpPr>
          <p:spPr>
            <a:xfrm>
              <a:off x="0" y="419430"/>
              <a:ext cx="5175384" cy="111384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7"/>
            <p:cNvSpPr txBox="1"/>
            <p:nvPr/>
          </p:nvSpPr>
          <p:spPr>
            <a:xfrm>
              <a:off x="54373" y="473803"/>
              <a:ext cx="5066638" cy="10050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Traducción de necesidades a un documento formal</a:t>
              </a:r>
              <a:endParaRPr/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0" y="1613910"/>
              <a:ext cx="5175384" cy="1113840"/>
            </a:xfrm>
            <a:prstGeom prst="roundRect">
              <a:avLst>
                <a:gd fmla="val 16667" name="adj"/>
              </a:avLst>
            </a:prstGeom>
            <a:solidFill>
              <a:srgbClr val="BD8250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7"/>
            <p:cNvSpPr txBox="1"/>
            <p:nvPr/>
          </p:nvSpPr>
          <p:spPr>
            <a:xfrm>
              <a:off x="54373" y="1668283"/>
              <a:ext cx="5066638" cy="10050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Puede representarse en lenguaje natural, modelos o estándares</a:t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0" y="2808390"/>
              <a:ext cx="5175384" cy="1113840"/>
            </a:xfrm>
            <a:prstGeom prst="roundRect">
              <a:avLst>
                <a:gd fmla="val 16667" name="adj"/>
              </a:avLst>
            </a:prstGeom>
            <a:solidFill>
              <a:srgbClr val="BCB054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7"/>
            <p:cNvSpPr txBox="1"/>
            <p:nvPr/>
          </p:nvSpPr>
          <p:spPr>
            <a:xfrm>
              <a:off x="54373" y="2862763"/>
              <a:ext cx="5066638" cy="10050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Base para el contrato cliente-desarrollador</a:t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0" y="4002870"/>
              <a:ext cx="5175384" cy="1113840"/>
            </a:xfrm>
            <a:prstGeom prst="roundRect">
              <a:avLst>
                <a:gd fmla="val 16667" name="adj"/>
              </a:avLst>
            </a:prstGeom>
            <a:solidFill>
              <a:srgbClr val="9ABA5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7"/>
            <p:cNvSpPr txBox="1"/>
            <p:nvPr/>
          </p:nvSpPr>
          <p:spPr>
            <a:xfrm>
              <a:off x="54373" y="4057243"/>
              <a:ext cx="5066638" cy="10050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n-US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Incluye: requerimientos funcionales y no funcionales</a:t>
              </a:r>
              <a:endPara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"/>
          <p:cNvSpPr/>
          <p:nvPr/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0" y="0"/>
            <a:ext cx="3125454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 txBox="1"/>
          <p:nvPr>
            <p:ph type="title"/>
          </p:nvPr>
        </p:nvSpPr>
        <p:spPr>
          <a:xfrm>
            <a:off x="515125" y="1153572"/>
            <a:ext cx="2400300" cy="4461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FFFFFF"/>
                </a:solidFill>
              </a:rPr>
              <a:t>Gestión de requerimientos</a:t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 flipH="1" rot="10800000">
            <a:off x="5662801" y="2455479"/>
            <a:ext cx="3062575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 txBox="1"/>
          <p:nvPr>
            <p:ph idx="1" type="body"/>
          </p:nvPr>
        </p:nvSpPr>
        <p:spPr>
          <a:xfrm>
            <a:off x="3335481" y="591344"/>
            <a:ext cx="5179868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Los requerimientos cambian en el tiempo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Actividades: seguimiento, control de cambios, trazabilidad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Estables vs volátiles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Rastreabilidad = identificar impacto de cada cambio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a57a1bbef_0_47"/>
          <p:cNvSpPr/>
          <p:nvPr/>
        </p:nvSpPr>
        <p:spPr>
          <a:xfrm>
            <a:off x="0" y="0"/>
            <a:ext cx="91416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fa57a1bbef_0_47"/>
          <p:cNvSpPr txBox="1"/>
          <p:nvPr>
            <p:ph type="title"/>
          </p:nvPr>
        </p:nvSpPr>
        <p:spPr>
          <a:xfrm>
            <a:off x="628650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alibri"/>
              <a:buNone/>
            </a:pPr>
            <a:r>
              <a:rPr lang="en-US" sz="4700"/>
              <a:t>Validación de requerimientos</a:t>
            </a:r>
            <a:endParaRPr/>
          </a:p>
        </p:txBody>
      </p:sp>
      <p:sp>
        <p:nvSpPr>
          <p:cNvPr id="250" name="Google Shape;250;g3fa57a1bbef_0_47"/>
          <p:cNvSpPr/>
          <p:nvPr/>
        </p:nvSpPr>
        <p:spPr>
          <a:xfrm>
            <a:off x="501777" y="1677373"/>
            <a:ext cx="8140446" cy="18288"/>
          </a:xfrm>
          <a:custGeom>
            <a:rect b="b" l="l" r="r" t="t"/>
            <a:pathLst>
              <a:path extrusionOk="0" fill="none" h="18288" w="8140446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extrusionOk="0" h="18288" w="8140446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fa57a1bbef_0_47"/>
          <p:cNvSpPr txBox="1"/>
          <p:nvPr>
            <p:ph idx="1" type="body"/>
          </p:nvPr>
        </p:nvSpPr>
        <p:spPr>
          <a:xfrm>
            <a:off x="628650" y="1929375"/>
            <a:ext cx="7886700" cy="44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Validar es comprobar que los requerimientos: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representan las necesidades;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son claros;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son consistentes;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son factibles;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pueden ser verificados.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Técnicas</a:t>
            </a:r>
            <a:endParaRPr b="1"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Revisiones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Prototipos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Casos de uso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Validación con usuarios</a:t>
            </a:r>
            <a:endParaRPr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"/>
          <p:cNvSpPr/>
          <p:nvPr/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555409" y="1011045"/>
            <a:ext cx="3277394" cy="4369859"/>
          </a:xfrm>
          <a:prstGeom prst="roundRect">
            <a:avLst>
              <a:gd fmla="val 275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 txBox="1"/>
          <p:nvPr>
            <p:ph type="title"/>
          </p:nvPr>
        </p:nvSpPr>
        <p:spPr>
          <a:xfrm>
            <a:off x="717619" y="1112969"/>
            <a:ext cx="2952974" cy="4166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>
                <a:solidFill>
                  <a:srgbClr val="FFFFFF"/>
                </a:solidFill>
              </a:rPr>
              <a:t>Actividad Práctica </a:t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 flipH="1">
            <a:off x="397896" y="0"/>
            <a:ext cx="866357" cy="591009"/>
          </a:xfrm>
          <a:custGeom>
            <a:rect b="b" l="l" r="r" t="t"/>
            <a:pathLst>
              <a:path extrusionOk="0" h="591009" w="1155142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 flipH="1">
            <a:off x="2971133" y="-1"/>
            <a:ext cx="130305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 flipH="1">
            <a:off x="0" y="2936831"/>
            <a:ext cx="119805" cy="552996"/>
          </a:xfrm>
          <a:custGeom>
            <a:rect b="b" l="l" r="r" t="t"/>
            <a:pathLst>
              <a:path extrusionOk="0" h="552996" w="159741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 txBox="1"/>
          <p:nvPr>
            <p:ph idx="1" type="body"/>
          </p:nvPr>
        </p:nvSpPr>
        <p:spPr>
          <a:xfrm>
            <a:off x="4572000" y="820880"/>
            <a:ext cx="3943349" cy="4889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Caso: </a:t>
            </a:r>
            <a:endParaRPr b="1"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Redacten 3 requerimientos funcionales iniciales</a:t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 Cambio introducido: agregar pago online de turnos</a:t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Usen IA para sugerir nuevos requerimientos</a:t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 Analicen: ¿qué requerimientos se ven impactados?</a:t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 flipH="1">
            <a:off x="0" y="5835649"/>
            <a:ext cx="1161135" cy="1022351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 flipH="1">
            <a:off x="2563731" y="5717905"/>
            <a:ext cx="1328706" cy="1140095"/>
          </a:xfrm>
          <a:custGeom>
            <a:rect b="b" l="l" r="r" t="t"/>
            <a:pathLst>
              <a:path extrusionOk="0" h="1140095" w="1771609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 flipH="1">
            <a:off x="3099729" y="6258755"/>
            <a:ext cx="1174455" cy="599245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Gaby Caliva</dc:creator>
</cp:coreProperties>
</file>