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63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FCF1E0-525A-4FA2-87B9-D2CCF21AEDF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991F81-375C-4062-85C1-2B6DFFC11884}">
      <dgm:prSet/>
      <dgm:spPr/>
      <dgm:t>
        <a:bodyPr/>
        <a:lstStyle/>
        <a:p>
          <a:r>
            <a:rPr lang="en-US"/>
            <a:t>- Comprender requerimientos desde perspectiva organizacional y de software</a:t>
          </a:r>
        </a:p>
      </dgm:t>
    </dgm:pt>
    <dgm:pt modelId="{9CE498BD-ECD2-4FCD-8A29-992912B13586}" type="parTrans" cxnId="{4EE16076-4EC0-4875-A715-D82CB27DB3B9}">
      <dgm:prSet/>
      <dgm:spPr/>
      <dgm:t>
        <a:bodyPr/>
        <a:lstStyle/>
        <a:p>
          <a:endParaRPr lang="en-US"/>
        </a:p>
      </dgm:t>
    </dgm:pt>
    <dgm:pt modelId="{867108F0-6014-4E84-946B-64A2439A2E2C}" type="sibTrans" cxnId="{4EE16076-4EC0-4875-A715-D82CB27DB3B9}">
      <dgm:prSet/>
      <dgm:spPr/>
      <dgm:t>
        <a:bodyPr/>
        <a:lstStyle/>
        <a:p>
          <a:endParaRPr lang="en-US"/>
        </a:p>
      </dgm:t>
    </dgm:pt>
    <dgm:pt modelId="{F09BEF78-DC3E-4D50-8EEA-6A1E11906ED9}">
      <dgm:prSet/>
      <dgm:spPr/>
      <dgm:t>
        <a:bodyPr/>
        <a:lstStyle/>
        <a:p>
          <a:r>
            <a:rPr lang="en-US"/>
            <a:t>- Conocer concepto de elicitar requerimientos</a:t>
          </a:r>
        </a:p>
      </dgm:t>
    </dgm:pt>
    <dgm:pt modelId="{A83EA5AA-C031-46F0-B8CB-9AA62666B8C3}" type="parTrans" cxnId="{DE0791D4-6B32-4B63-A3D1-596F8D8D5877}">
      <dgm:prSet/>
      <dgm:spPr/>
      <dgm:t>
        <a:bodyPr/>
        <a:lstStyle/>
        <a:p>
          <a:endParaRPr lang="en-US"/>
        </a:p>
      </dgm:t>
    </dgm:pt>
    <dgm:pt modelId="{2145ACB0-3268-4248-9CD4-D19B6852994C}" type="sibTrans" cxnId="{DE0791D4-6B32-4B63-A3D1-596F8D8D5877}">
      <dgm:prSet/>
      <dgm:spPr/>
      <dgm:t>
        <a:bodyPr/>
        <a:lstStyle/>
        <a:p>
          <a:endParaRPr lang="en-US"/>
        </a:p>
      </dgm:t>
    </dgm:pt>
    <dgm:pt modelId="{0DBFDF09-93D8-4CBF-A2A9-AA6B28974A6C}">
      <dgm:prSet/>
      <dgm:spPr/>
      <dgm:t>
        <a:bodyPr/>
        <a:lstStyle/>
        <a:p>
          <a:r>
            <a:rPr lang="en-US"/>
            <a:t>- Analizar rol de los requerimientos</a:t>
          </a:r>
        </a:p>
      </dgm:t>
    </dgm:pt>
    <dgm:pt modelId="{046E018D-7987-42E4-ACB1-34B1E4FB1861}" type="parTrans" cxnId="{E3053CAB-B8C4-44D6-8BEE-8E8C4C688842}">
      <dgm:prSet/>
      <dgm:spPr/>
      <dgm:t>
        <a:bodyPr/>
        <a:lstStyle/>
        <a:p>
          <a:endParaRPr lang="en-US"/>
        </a:p>
      </dgm:t>
    </dgm:pt>
    <dgm:pt modelId="{E279939D-A345-476B-B61E-E8F545997273}" type="sibTrans" cxnId="{E3053CAB-B8C4-44D6-8BEE-8E8C4C688842}">
      <dgm:prSet/>
      <dgm:spPr/>
      <dgm:t>
        <a:bodyPr/>
        <a:lstStyle/>
        <a:p>
          <a:endParaRPr lang="en-US"/>
        </a:p>
      </dgm:t>
    </dgm:pt>
    <dgm:pt modelId="{A0140634-9F52-456C-92A6-EA2D64682522}">
      <dgm:prSet/>
      <dgm:spPr/>
      <dgm:t>
        <a:bodyPr/>
        <a:lstStyle/>
        <a:p>
          <a:r>
            <a:rPr lang="en-US"/>
            <a:t>- Introducir análisis de requerimientos y SRS</a:t>
          </a:r>
        </a:p>
      </dgm:t>
    </dgm:pt>
    <dgm:pt modelId="{630C07FB-BDB7-4FE9-8A5F-9027488A5ECC}" type="parTrans" cxnId="{FBD5053F-0984-4587-81A5-319FB25CF6A0}">
      <dgm:prSet/>
      <dgm:spPr/>
      <dgm:t>
        <a:bodyPr/>
        <a:lstStyle/>
        <a:p>
          <a:endParaRPr lang="en-US"/>
        </a:p>
      </dgm:t>
    </dgm:pt>
    <dgm:pt modelId="{3FA0E341-AE53-4940-9615-FFEFDB370A95}" type="sibTrans" cxnId="{FBD5053F-0984-4587-81A5-319FB25CF6A0}">
      <dgm:prSet/>
      <dgm:spPr/>
      <dgm:t>
        <a:bodyPr/>
        <a:lstStyle/>
        <a:p>
          <a:endParaRPr lang="en-US"/>
        </a:p>
      </dgm:t>
    </dgm:pt>
    <dgm:pt modelId="{F9B9E6BF-B7D5-46DA-A03D-3ABC9D8943E7}" type="pres">
      <dgm:prSet presAssocID="{42FCF1E0-525A-4FA2-87B9-D2CCF21AEDF9}" presName="root" presStyleCnt="0">
        <dgm:presLayoutVars>
          <dgm:dir/>
          <dgm:resizeHandles val="exact"/>
        </dgm:presLayoutVars>
      </dgm:prSet>
      <dgm:spPr/>
    </dgm:pt>
    <dgm:pt modelId="{097ED255-5052-4A8F-9A33-F83BA0DDD8C5}" type="pres">
      <dgm:prSet presAssocID="{29991F81-375C-4062-85C1-2B6DFFC11884}" presName="compNode" presStyleCnt="0"/>
      <dgm:spPr/>
    </dgm:pt>
    <dgm:pt modelId="{E6E040B5-803F-45E6-8409-68B7B9D78E61}" type="pres">
      <dgm:prSet presAssocID="{29991F81-375C-4062-85C1-2B6DFFC1188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F2EF2D9-A3FA-4570-AEDD-8B84C52E88E3}" type="pres">
      <dgm:prSet presAssocID="{29991F81-375C-4062-85C1-2B6DFFC11884}" presName="spaceRect" presStyleCnt="0"/>
      <dgm:spPr/>
    </dgm:pt>
    <dgm:pt modelId="{7B07EBB6-9B8D-49E8-9948-8C488A9FBF11}" type="pres">
      <dgm:prSet presAssocID="{29991F81-375C-4062-85C1-2B6DFFC11884}" presName="textRect" presStyleLbl="revTx" presStyleIdx="0" presStyleCnt="4">
        <dgm:presLayoutVars>
          <dgm:chMax val="1"/>
          <dgm:chPref val="1"/>
        </dgm:presLayoutVars>
      </dgm:prSet>
      <dgm:spPr/>
    </dgm:pt>
    <dgm:pt modelId="{F4F7A40D-A6F4-4901-AA57-C1CFE0D862EC}" type="pres">
      <dgm:prSet presAssocID="{867108F0-6014-4E84-946B-64A2439A2E2C}" presName="sibTrans" presStyleCnt="0"/>
      <dgm:spPr/>
    </dgm:pt>
    <dgm:pt modelId="{9B011C91-8598-4293-B911-B6DD057A79EB}" type="pres">
      <dgm:prSet presAssocID="{F09BEF78-DC3E-4D50-8EEA-6A1E11906ED9}" presName="compNode" presStyleCnt="0"/>
      <dgm:spPr/>
    </dgm:pt>
    <dgm:pt modelId="{9A0D7810-9ED0-4E93-88E9-33AAF5E4FA1D}" type="pres">
      <dgm:prSet presAssocID="{F09BEF78-DC3E-4D50-8EEA-6A1E11906E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AEF534BF-4477-47C1-8926-720EB75FF3EE}" type="pres">
      <dgm:prSet presAssocID="{F09BEF78-DC3E-4D50-8EEA-6A1E11906ED9}" presName="spaceRect" presStyleCnt="0"/>
      <dgm:spPr/>
    </dgm:pt>
    <dgm:pt modelId="{5B94DBBF-9E4B-448A-BF10-7D7F673C8CB7}" type="pres">
      <dgm:prSet presAssocID="{F09BEF78-DC3E-4D50-8EEA-6A1E11906ED9}" presName="textRect" presStyleLbl="revTx" presStyleIdx="1" presStyleCnt="4">
        <dgm:presLayoutVars>
          <dgm:chMax val="1"/>
          <dgm:chPref val="1"/>
        </dgm:presLayoutVars>
      </dgm:prSet>
      <dgm:spPr/>
    </dgm:pt>
    <dgm:pt modelId="{257F8EB5-4826-4839-AA97-6863E725CD7E}" type="pres">
      <dgm:prSet presAssocID="{2145ACB0-3268-4248-9CD4-D19B6852994C}" presName="sibTrans" presStyleCnt="0"/>
      <dgm:spPr/>
    </dgm:pt>
    <dgm:pt modelId="{8105CD8B-FA80-49BF-A21E-1568FD14EF64}" type="pres">
      <dgm:prSet presAssocID="{0DBFDF09-93D8-4CBF-A2A9-AA6B28974A6C}" presName="compNode" presStyleCnt="0"/>
      <dgm:spPr/>
    </dgm:pt>
    <dgm:pt modelId="{8CCCD6A2-BC0D-4E30-BF7F-483932EBCC0A}" type="pres">
      <dgm:prSet presAssocID="{0DBFDF09-93D8-4CBF-A2A9-AA6B28974A6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CE765BA-A078-460F-AE8F-E006E5B883EC}" type="pres">
      <dgm:prSet presAssocID="{0DBFDF09-93D8-4CBF-A2A9-AA6B28974A6C}" presName="spaceRect" presStyleCnt="0"/>
      <dgm:spPr/>
    </dgm:pt>
    <dgm:pt modelId="{041C0B30-ADD9-4C20-BAEB-AB75AEEAC9D2}" type="pres">
      <dgm:prSet presAssocID="{0DBFDF09-93D8-4CBF-A2A9-AA6B28974A6C}" presName="textRect" presStyleLbl="revTx" presStyleIdx="2" presStyleCnt="4">
        <dgm:presLayoutVars>
          <dgm:chMax val="1"/>
          <dgm:chPref val="1"/>
        </dgm:presLayoutVars>
      </dgm:prSet>
      <dgm:spPr/>
    </dgm:pt>
    <dgm:pt modelId="{2B36109A-F58F-48A6-AEB4-EA3042AEB5B1}" type="pres">
      <dgm:prSet presAssocID="{E279939D-A345-476B-B61E-E8F545997273}" presName="sibTrans" presStyleCnt="0"/>
      <dgm:spPr/>
    </dgm:pt>
    <dgm:pt modelId="{140264FD-CBB3-40A6-A8AA-437B578BD6E6}" type="pres">
      <dgm:prSet presAssocID="{A0140634-9F52-456C-92A6-EA2D64682522}" presName="compNode" presStyleCnt="0"/>
      <dgm:spPr/>
    </dgm:pt>
    <dgm:pt modelId="{34DE8961-2DD0-45C0-B422-998165859E0E}" type="pres">
      <dgm:prSet presAssocID="{A0140634-9F52-456C-92A6-EA2D6468252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A204CBF-458D-4917-967C-5EED9FED8B27}" type="pres">
      <dgm:prSet presAssocID="{A0140634-9F52-456C-92A6-EA2D64682522}" presName="spaceRect" presStyleCnt="0"/>
      <dgm:spPr/>
    </dgm:pt>
    <dgm:pt modelId="{68CDA705-BEE4-4B48-B2B0-3F5C633BF615}" type="pres">
      <dgm:prSet presAssocID="{A0140634-9F52-456C-92A6-EA2D6468252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AED4537-2D34-4C9B-BB4D-DCE31A97864E}" type="presOf" srcId="{0DBFDF09-93D8-4CBF-A2A9-AA6B28974A6C}" destId="{041C0B30-ADD9-4C20-BAEB-AB75AEEAC9D2}" srcOrd="0" destOrd="0" presId="urn:microsoft.com/office/officeart/2018/2/layout/IconLabelList"/>
    <dgm:cxn modelId="{FBD5053F-0984-4587-81A5-319FB25CF6A0}" srcId="{42FCF1E0-525A-4FA2-87B9-D2CCF21AEDF9}" destId="{A0140634-9F52-456C-92A6-EA2D64682522}" srcOrd="3" destOrd="0" parTransId="{630C07FB-BDB7-4FE9-8A5F-9027488A5ECC}" sibTransId="{3FA0E341-AE53-4940-9615-FFEFDB370A95}"/>
    <dgm:cxn modelId="{3F261656-168D-405F-8866-F3D3DB9E04FB}" type="presOf" srcId="{A0140634-9F52-456C-92A6-EA2D64682522}" destId="{68CDA705-BEE4-4B48-B2B0-3F5C633BF615}" srcOrd="0" destOrd="0" presId="urn:microsoft.com/office/officeart/2018/2/layout/IconLabelList"/>
    <dgm:cxn modelId="{4EE16076-4EC0-4875-A715-D82CB27DB3B9}" srcId="{42FCF1E0-525A-4FA2-87B9-D2CCF21AEDF9}" destId="{29991F81-375C-4062-85C1-2B6DFFC11884}" srcOrd="0" destOrd="0" parTransId="{9CE498BD-ECD2-4FCD-8A29-992912B13586}" sibTransId="{867108F0-6014-4E84-946B-64A2439A2E2C}"/>
    <dgm:cxn modelId="{1A3B8778-9C17-42E4-8990-728B1A943F30}" type="presOf" srcId="{29991F81-375C-4062-85C1-2B6DFFC11884}" destId="{7B07EBB6-9B8D-49E8-9948-8C488A9FBF11}" srcOrd="0" destOrd="0" presId="urn:microsoft.com/office/officeart/2018/2/layout/IconLabelList"/>
    <dgm:cxn modelId="{A007C7AA-8EEA-4A54-9AD3-2DAAD9C85761}" type="presOf" srcId="{42FCF1E0-525A-4FA2-87B9-D2CCF21AEDF9}" destId="{F9B9E6BF-B7D5-46DA-A03D-3ABC9D8943E7}" srcOrd="0" destOrd="0" presId="urn:microsoft.com/office/officeart/2018/2/layout/IconLabelList"/>
    <dgm:cxn modelId="{E3053CAB-B8C4-44D6-8BEE-8E8C4C688842}" srcId="{42FCF1E0-525A-4FA2-87B9-D2CCF21AEDF9}" destId="{0DBFDF09-93D8-4CBF-A2A9-AA6B28974A6C}" srcOrd="2" destOrd="0" parTransId="{046E018D-7987-42E4-ACB1-34B1E4FB1861}" sibTransId="{E279939D-A345-476B-B61E-E8F545997273}"/>
    <dgm:cxn modelId="{4C6ABCB5-2DFE-44F3-8E4A-727F62DDF126}" type="presOf" srcId="{F09BEF78-DC3E-4D50-8EEA-6A1E11906ED9}" destId="{5B94DBBF-9E4B-448A-BF10-7D7F673C8CB7}" srcOrd="0" destOrd="0" presId="urn:microsoft.com/office/officeart/2018/2/layout/IconLabelList"/>
    <dgm:cxn modelId="{DE0791D4-6B32-4B63-A3D1-596F8D8D5877}" srcId="{42FCF1E0-525A-4FA2-87B9-D2CCF21AEDF9}" destId="{F09BEF78-DC3E-4D50-8EEA-6A1E11906ED9}" srcOrd="1" destOrd="0" parTransId="{A83EA5AA-C031-46F0-B8CB-9AA62666B8C3}" sibTransId="{2145ACB0-3268-4248-9CD4-D19B6852994C}"/>
    <dgm:cxn modelId="{B2D535B0-2B8E-4990-8D98-A1DB6B4451D7}" type="presParOf" srcId="{F9B9E6BF-B7D5-46DA-A03D-3ABC9D8943E7}" destId="{097ED255-5052-4A8F-9A33-F83BA0DDD8C5}" srcOrd="0" destOrd="0" presId="urn:microsoft.com/office/officeart/2018/2/layout/IconLabelList"/>
    <dgm:cxn modelId="{409B2050-552A-4F9F-A21B-393AAFBA7FFF}" type="presParOf" srcId="{097ED255-5052-4A8F-9A33-F83BA0DDD8C5}" destId="{E6E040B5-803F-45E6-8409-68B7B9D78E61}" srcOrd="0" destOrd="0" presId="urn:microsoft.com/office/officeart/2018/2/layout/IconLabelList"/>
    <dgm:cxn modelId="{AD0FCBF1-BD2C-410E-96DB-0BEE4701DF46}" type="presParOf" srcId="{097ED255-5052-4A8F-9A33-F83BA0DDD8C5}" destId="{0F2EF2D9-A3FA-4570-AEDD-8B84C52E88E3}" srcOrd="1" destOrd="0" presId="urn:microsoft.com/office/officeart/2018/2/layout/IconLabelList"/>
    <dgm:cxn modelId="{38CCBAAF-280C-4832-90D4-FEF3B2CF2CB8}" type="presParOf" srcId="{097ED255-5052-4A8F-9A33-F83BA0DDD8C5}" destId="{7B07EBB6-9B8D-49E8-9948-8C488A9FBF11}" srcOrd="2" destOrd="0" presId="urn:microsoft.com/office/officeart/2018/2/layout/IconLabelList"/>
    <dgm:cxn modelId="{2F15472F-188E-4AAA-BA8C-6583AC8EE36C}" type="presParOf" srcId="{F9B9E6BF-B7D5-46DA-A03D-3ABC9D8943E7}" destId="{F4F7A40D-A6F4-4901-AA57-C1CFE0D862EC}" srcOrd="1" destOrd="0" presId="urn:microsoft.com/office/officeart/2018/2/layout/IconLabelList"/>
    <dgm:cxn modelId="{5BC60584-AD76-47C7-AFE4-FDCCDCABD5B6}" type="presParOf" srcId="{F9B9E6BF-B7D5-46DA-A03D-3ABC9D8943E7}" destId="{9B011C91-8598-4293-B911-B6DD057A79EB}" srcOrd="2" destOrd="0" presId="urn:microsoft.com/office/officeart/2018/2/layout/IconLabelList"/>
    <dgm:cxn modelId="{54DFEC17-FAD7-44FE-8C2C-A8C65B377097}" type="presParOf" srcId="{9B011C91-8598-4293-B911-B6DD057A79EB}" destId="{9A0D7810-9ED0-4E93-88E9-33AAF5E4FA1D}" srcOrd="0" destOrd="0" presId="urn:microsoft.com/office/officeart/2018/2/layout/IconLabelList"/>
    <dgm:cxn modelId="{C2DD46E0-AE00-4AF5-AB46-88A894386258}" type="presParOf" srcId="{9B011C91-8598-4293-B911-B6DD057A79EB}" destId="{AEF534BF-4477-47C1-8926-720EB75FF3EE}" srcOrd="1" destOrd="0" presId="urn:microsoft.com/office/officeart/2018/2/layout/IconLabelList"/>
    <dgm:cxn modelId="{482D2B86-9B08-48D3-B536-62D1219D5481}" type="presParOf" srcId="{9B011C91-8598-4293-B911-B6DD057A79EB}" destId="{5B94DBBF-9E4B-448A-BF10-7D7F673C8CB7}" srcOrd="2" destOrd="0" presId="urn:microsoft.com/office/officeart/2018/2/layout/IconLabelList"/>
    <dgm:cxn modelId="{2A6B7FBA-505D-4E76-9079-8AA3A52AC8A8}" type="presParOf" srcId="{F9B9E6BF-B7D5-46DA-A03D-3ABC9D8943E7}" destId="{257F8EB5-4826-4839-AA97-6863E725CD7E}" srcOrd="3" destOrd="0" presId="urn:microsoft.com/office/officeart/2018/2/layout/IconLabelList"/>
    <dgm:cxn modelId="{7A38BC97-B10F-4B48-BBDF-D49FA2841324}" type="presParOf" srcId="{F9B9E6BF-B7D5-46DA-A03D-3ABC9D8943E7}" destId="{8105CD8B-FA80-49BF-A21E-1568FD14EF64}" srcOrd="4" destOrd="0" presId="urn:microsoft.com/office/officeart/2018/2/layout/IconLabelList"/>
    <dgm:cxn modelId="{56FA0D56-86FD-4C1D-8AA1-658A073DA28B}" type="presParOf" srcId="{8105CD8B-FA80-49BF-A21E-1568FD14EF64}" destId="{8CCCD6A2-BC0D-4E30-BF7F-483932EBCC0A}" srcOrd="0" destOrd="0" presId="urn:microsoft.com/office/officeart/2018/2/layout/IconLabelList"/>
    <dgm:cxn modelId="{98C6FD8B-EBE2-43CE-9C24-F34E99FD12DA}" type="presParOf" srcId="{8105CD8B-FA80-49BF-A21E-1568FD14EF64}" destId="{5CE765BA-A078-460F-AE8F-E006E5B883EC}" srcOrd="1" destOrd="0" presId="urn:microsoft.com/office/officeart/2018/2/layout/IconLabelList"/>
    <dgm:cxn modelId="{C3090CB4-192A-4B26-BE4E-B6E1AAF7AA56}" type="presParOf" srcId="{8105CD8B-FA80-49BF-A21E-1568FD14EF64}" destId="{041C0B30-ADD9-4C20-BAEB-AB75AEEAC9D2}" srcOrd="2" destOrd="0" presId="urn:microsoft.com/office/officeart/2018/2/layout/IconLabelList"/>
    <dgm:cxn modelId="{132DE710-2BB1-458D-BA19-11CB30CC8B93}" type="presParOf" srcId="{F9B9E6BF-B7D5-46DA-A03D-3ABC9D8943E7}" destId="{2B36109A-F58F-48A6-AEB4-EA3042AEB5B1}" srcOrd="5" destOrd="0" presId="urn:microsoft.com/office/officeart/2018/2/layout/IconLabelList"/>
    <dgm:cxn modelId="{5C340DD8-72F7-4E07-B78F-62117022638C}" type="presParOf" srcId="{F9B9E6BF-B7D5-46DA-A03D-3ABC9D8943E7}" destId="{140264FD-CBB3-40A6-A8AA-437B578BD6E6}" srcOrd="6" destOrd="0" presId="urn:microsoft.com/office/officeart/2018/2/layout/IconLabelList"/>
    <dgm:cxn modelId="{9FEF8AC5-6C66-4A4E-AFFE-03C2103FB8B3}" type="presParOf" srcId="{140264FD-CBB3-40A6-A8AA-437B578BD6E6}" destId="{34DE8961-2DD0-45C0-B422-998165859E0E}" srcOrd="0" destOrd="0" presId="urn:microsoft.com/office/officeart/2018/2/layout/IconLabelList"/>
    <dgm:cxn modelId="{78221F3A-2CE2-4518-B942-23840E2CEA53}" type="presParOf" srcId="{140264FD-CBB3-40A6-A8AA-437B578BD6E6}" destId="{DA204CBF-458D-4917-967C-5EED9FED8B27}" srcOrd="1" destOrd="0" presId="urn:microsoft.com/office/officeart/2018/2/layout/IconLabelList"/>
    <dgm:cxn modelId="{7B27485F-94F6-41DB-B34A-84A8BB1C990B}" type="presParOf" srcId="{140264FD-CBB3-40A6-A8AA-437B578BD6E6}" destId="{68CDA705-BEE4-4B48-B2B0-3F5C633BF61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E040B5-803F-45E6-8409-68B7B9D78E61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7EBB6-9B8D-49E8-9948-8C488A9FBF11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Comprender requerimientos desde perspectiva organizacional y de software</a:t>
          </a:r>
        </a:p>
      </dsp:txBody>
      <dsp:txXfrm>
        <a:off x="25435" y="2276522"/>
        <a:ext cx="1800000" cy="720000"/>
      </dsp:txXfrm>
    </dsp:sp>
    <dsp:sp modelId="{9A0D7810-9ED0-4E93-88E9-33AAF5E4FA1D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4DBBF-9E4B-448A-BF10-7D7F673C8CB7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Conocer concepto de elicitar requerimientos</a:t>
          </a:r>
        </a:p>
      </dsp:txBody>
      <dsp:txXfrm>
        <a:off x="2140435" y="2276522"/>
        <a:ext cx="1800000" cy="720000"/>
      </dsp:txXfrm>
    </dsp:sp>
    <dsp:sp modelId="{8CCCD6A2-BC0D-4E30-BF7F-483932EBCC0A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1C0B30-ADD9-4C20-BAEB-AB75AEEAC9D2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Analizar rol de los requerimientos</a:t>
          </a:r>
        </a:p>
      </dsp:txBody>
      <dsp:txXfrm>
        <a:off x="4255435" y="2276522"/>
        <a:ext cx="1800000" cy="720000"/>
      </dsp:txXfrm>
    </dsp:sp>
    <dsp:sp modelId="{34DE8961-2DD0-45C0-B422-998165859E0E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DA705-BEE4-4B48-B2B0-3F5C633BF615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Introducir análisis de requerimientos y SRS</a:t>
          </a:r>
        </a:p>
      </dsp:txBody>
      <dsp:txXfrm>
        <a:off x="6370435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s-ES" sz="4200" dirty="0">
                <a:solidFill>
                  <a:srgbClr val="FFFFFF"/>
                </a:solidFill>
              </a:rPr>
              <a:t>Clase 4</a:t>
            </a:r>
            <a:br>
              <a:rPr lang="es-ES" sz="4200" dirty="0">
                <a:solidFill>
                  <a:srgbClr val="FFFFFF"/>
                </a:solidFill>
              </a:rPr>
            </a:br>
            <a:r>
              <a:rPr lang="es-ES" sz="4200" dirty="0">
                <a:solidFill>
                  <a:srgbClr val="FFFFFF"/>
                </a:solidFill>
              </a:rPr>
              <a:t>Perspectiva </a:t>
            </a:r>
            <a:br>
              <a:rPr lang="es-ES" sz="4200" dirty="0">
                <a:solidFill>
                  <a:srgbClr val="FFFFFF"/>
                </a:solidFill>
              </a:rPr>
            </a:br>
            <a:r>
              <a:rPr lang="es-ES" sz="4200" dirty="0">
                <a:solidFill>
                  <a:srgbClr val="FFFFFF"/>
                </a:solidFill>
              </a:rPr>
              <a:t>Organizacional y Análisis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endParaRPr lang="es-AR"/>
          </a:p>
          <a:p>
            <a:pPr algn="l"/>
            <a:r>
              <a:rPr dirty="0" err="1"/>
              <a:t>Docente</a:t>
            </a:r>
            <a:r>
              <a:rPr dirty="0"/>
              <a:t>: Gabriela Caliva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Objetivos de la clase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9B76C2-3B13-0687-E6D8-023AE0F00F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0961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¿Qué es la elicitación?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s-ES" sz="2800" dirty="0"/>
              <a:t>Del inglés '</a:t>
            </a:r>
            <a:r>
              <a:rPr lang="es-ES" sz="2800" dirty="0" err="1"/>
              <a:t>Elicit</a:t>
            </a:r>
            <a:r>
              <a:rPr lang="es-ES" sz="2800" dirty="0"/>
              <a:t>' = obtener</a:t>
            </a:r>
          </a:p>
          <a:p>
            <a:pPr marL="0" indent="0">
              <a:buNone/>
              <a:defRPr sz="1400"/>
            </a:pPr>
            <a:endParaRPr lang="es-ES" sz="2800" dirty="0"/>
          </a:p>
          <a:p>
            <a:pPr>
              <a:defRPr sz="1400"/>
            </a:pPr>
            <a:r>
              <a:rPr lang="es-ES" sz="2800" dirty="0"/>
              <a:t>Trasladar ideas del usuario a requerimientos de software</a:t>
            </a:r>
          </a:p>
          <a:p>
            <a:pPr>
              <a:defRPr sz="1400"/>
            </a:pPr>
            <a:endParaRPr lang="es-ES" sz="2800" dirty="0"/>
          </a:p>
          <a:p>
            <a:pPr>
              <a:defRPr sz="1400"/>
            </a:pPr>
            <a:r>
              <a:rPr lang="es-ES" sz="2800" dirty="0"/>
              <a:t>Proceso social: comunicación, acuerdos, negociación</a:t>
            </a:r>
          </a:p>
          <a:p>
            <a:pPr>
              <a:defRPr sz="1400"/>
            </a:pPr>
            <a:endParaRPr lang="es-ES" sz="2800" dirty="0"/>
          </a:p>
          <a:p>
            <a:pPr>
              <a:defRPr sz="1400"/>
            </a:pPr>
            <a:r>
              <a:rPr lang="es-ES" sz="2800" dirty="0"/>
              <a:t>Técnicas: entrevistas, encuestas, observación, prototipos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2700">
                <a:solidFill>
                  <a:srgbClr val="FFFFFF"/>
                </a:solidFill>
              </a:rPr>
              <a:t>Definición de Requerimientos (IEEE 610, 1990)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s-ES" sz="2800" dirty="0"/>
              <a:t>Condición o capacidad que necesita el usuario</a:t>
            </a:r>
          </a:p>
          <a:p>
            <a:pPr>
              <a:defRPr sz="1400"/>
            </a:pPr>
            <a:endParaRPr lang="es-ES" sz="2800" dirty="0"/>
          </a:p>
          <a:p>
            <a:pPr>
              <a:defRPr sz="1400"/>
            </a:pPr>
            <a:r>
              <a:rPr lang="es-ES" sz="2800" dirty="0"/>
              <a:t>Condición o capacidad que debe satisfacer un sistema para un contrato o estándar</a:t>
            </a:r>
          </a:p>
          <a:p>
            <a:pPr>
              <a:defRPr sz="1400"/>
            </a:pPr>
            <a:endParaRPr lang="es-ES" sz="2800" dirty="0"/>
          </a:p>
          <a:p>
            <a:pPr>
              <a:defRPr sz="1400"/>
            </a:pPr>
            <a:r>
              <a:rPr lang="es-ES" sz="2800" dirty="0"/>
              <a:t>Representación documentada de una condición o capacidad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Rol de los requerimientos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s-ES" sz="2400" dirty="0"/>
              <a:t>Acuerdo entre desarrolladores, clientes y usuarios</a:t>
            </a:r>
          </a:p>
          <a:p>
            <a:pPr>
              <a:defRPr sz="1400"/>
            </a:pPr>
            <a:endParaRPr lang="es-ES" sz="2400" dirty="0"/>
          </a:p>
          <a:p>
            <a:pPr>
              <a:defRPr sz="1400"/>
            </a:pPr>
            <a:r>
              <a:rPr lang="es-ES" sz="2400" dirty="0"/>
              <a:t>Aspecto contractual</a:t>
            </a:r>
          </a:p>
          <a:p>
            <a:pPr>
              <a:defRPr sz="1400"/>
            </a:pPr>
            <a:endParaRPr lang="es-ES" sz="2400" dirty="0"/>
          </a:p>
          <a:p>
            <a:pPr>
              <a:defRPr sz="1400"/>
            </a:pPr>
            <a:r>
              <a:rPr lang="es-ES" sz="2400" dirty="0"/>
              <a:t>Base para diseño de software</a:t>
            </a:r>
          </a:p>
          <a:p>
            <a:pPr>
              <a:defRPr sz="1400"/>
            </a:pPr>
            <a:endParaRPr lang="es-ES" sz="2400" dirty="0"/>
          </a:p>
          <a:p>
            <a:pPr>
              <a:defRPr sz="1400"/>
            </a:pPr>
            <a:r>
              <a:rPr lang="es-ES" sz="2400" dirty="0"/>
              <a:t>Minimizar defectos</a:t>
            </a:r>
          </a:p>
          <a:p>
            <a:pPr>
              <a:defRPr sz="1400"/>
            </a:pPr>
            <a:endParaRPr lang="es-ES" sz="2400" dirty="0"/>
          </a:p>
          <a:p>
            <a:pPr>
              <a:defRPr sz="1400"/>
            </a:pPr>
            <a:r>
              <a:rPr lang="es-ES" sz="2400" dirty="0"/>
              <a:t>Soporte para verificación y validación</a:t>
            </a:r>
          </a:p>
          <a:p>
            <a:pPr>
              <a:defRPr sz="1400"/>
            </a:pPr>
            <a:endParaRPr lang="es-ES" sz="2400" dirty="0"/>
          </a:p>
          <a:p>
            <a:pPr>
              <a:defRPr sz="1400"/>
            </a:pPr>
            <a:r>
              <a:rPr lang="es-ES" sz="2400" dirty="0"/>
              <a:t>Soporte a la evolución del sistema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Perspectiva organizacional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s-ES" sz="2400" dirty="0"/>
              <a:t>Automatizar reduciendo costos de proceso</a:t>
            </a:r>
          </a:p>
          <a:p>
            <a:pPr>
              <a:defRPr sz="1400"/>
            </a:pPr>
            <a:r>
              <a:rPr lang="es-ES" sz="2400" dirty="0"/>
              <a:t>Alinear sistemas con estrategia del negocio</a:t>
            </a:r>
          </a:p>
          <a:p>
            <a:pPr>
              <a:defRPr sz="1400"/>
            </a:pPr>
            <a:r>
              <a:rPr lang="es-ES" sz="2400" dirty="0"/>
              <a:t>Asegurar satisfacción de necesidades de </a:t>
            </a:r>
            <a:r>
              <a:rPr lang="es-ES" sz="2400" dirty="0" err="1"/>
              <a:t>stakeholders</a:t>
            </a:r>
            <a:endParaRPr lang="es-ES" sz="2400" dirty="0"/>
          </a:p>
          <a:p>
            <a:pPr>
              <a:defRPr sz="1400"/>
            </a:pPr>
            <a:r>
              <a:rPr lang="es-ES" sz="2400" dirty="0"/>
              <a:t>Transformar la información en herramienta estratégica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rgbClr val="FFFFFF"/>
                </a:solidFill>
              </a:rPr>
              <a:t>Especificación de Requerimientos de Software (SRS)</a:t>
            </a:r>
          </a:p>
        </p:txBody>
      </p:sp>
      <p:sp>
        <p:nvSpPr>
          <p:cNvPr id="24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s-ES" sz="2400" dirty="0"/>
              <a:t>Modeliza lo que se necesita y formula el problema</a:t>
            </a:r>
          </a:p>
          <a:p>
            <a:pPr>
              <a:defRPr sz="1400"/>
            </a:pPr>
            <a:endParaRPr lang="es-ES" sz="2400" dirty="0"/>
          </a:p>
          <a:p>
            <a:pPr>
              <a:defRPr sz="1400"/>
            </a:pPr>
            <a:r>
              <a:rPr lang="es-ES" sz="2400" dirty="0"/>
              <a:t>Medio de comunicación y contrato</a:t>
            </a:r>
          </a:p>
          <a:p>
            <a:pPr>
              <a:defRPr sz="1400"/>
            </a:pPr>
            <a:endParaRPr lang="es-ES" sz="2400" dirty="0"/>
          </a:p>
          <a:p>
            <a:pPr>
              <a:defRPr sz="1400"/>
            </a:pPr>
            <a:r>
              <a:rPr lang="es-ES" sz="2400" dirty="0"/>
              <a:t>Base para testeo y evaluación del producto final</a:t>
            </a:r>
          </a:p>
          <a:p>
            <a:pPr>
              <a:defRPr sz="1400"/>
            </a:pPr>
            <a:endParaRPr lang="es-ES" sz="2400" dirty="0"/>
          </a:p>
          <a:p>
            <a:pPr>
              <a:defRPr sz="1400"/>
            </a:pPr>
            <a:r>
              <a:rPr lang="es-ES" sz="2400" dirty="0"/>
              <a:t>Incluye: requerimientos funcionales y no funcionales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Requerimientos funcionales vs no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s-ES" sz="2800" dirty="0"/>
              <a:t>Funcionales: qué debe hacer el sistema (</a:t>
            </a:r>
            <a:r>
              <a:rPr lang="es-ES" sz="2800" dirty="0" err="1"/>
              <a:t>ej</a:t>
            </a:r>
            <a:r>
              <a:rPr lang="es-ES" sz="2800" dirty="0"/>
              <a:t>: registrar usuario, procesar pago)</a:t>
            </a:r>
          </a:p>
          <a:p>
            <a:pPr>
              <a:defRPr sz="1400"/>
            </a:pPr>
            <a:endParaRPr lang="es-ES" sz="2800" dirty="0"/>
          </a:p>
          <a:p>
            <a:pPr>
              <a:defRPr sz="1400"/>
            </a:pPr>
            <a:r>
              <a:rPr lang="es-ES" sz="2800" dirty="0"/>
              <a:t>No funcionales: restricciones globales (</a:t>
            </a:r>
            <a:r>
              <a:rPr lang="es-ES" sz="2800" dirty="0" err="1"/>
              <a:t>ej</a:t>
            </a:r>
            <a:r>
              <a:rPr lang="es-ES" sz="2800" dirty="0"/>
              <a:t>: seguridad, usabilidad, rendimiento)</a:t>
            </a:r>
          </a:p>
          <a:p>
            <a:pPr>
              <a:defRPr sz="1400"/>
            </a:pPr>
            <a:endParaRPr lang="es-ES" sz="2800" dirty="0"/>
          </a:p>
          <a:p>
            <a:pPr>
              <a:defRPr sz="1400"/>
            </a:pPr>
            <a:r>
              <a:rPr lang="es-ES" sz="2800" dirty="0"/>
              <a:t>Ambos son esenciales para la calidad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dirty="0" err="1"/>
              <a:t>Actividad</a:t>
            </a:r>
            <a:r>
              <a:rPr lang="en-US" sz="3500" dirty="0"/>
              <a:t> breve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1" y="2743200"/>
            <a:ext cx="3863340" cy="361314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400"/>
            </a:pPr>
            <a:r>
              <a:rPr lang="es-ES" sz="2400" dirty="0"/>
              <a:t>Caso: Sistema de turnos hospitalario</a:t>
            </a:r>
          </a:p>
          <a:p>
            <a:pPr>
              <a:defRPr sz="1400"/>
            </a:pPr>
            <a:r>
              <a:rPr lang="es-ES" sz="2400" dirty="0"/>
              <a:t>Identificar 3 </a:t>
            </a:r>
            <a:r>
              <a:rPr lang="es-ES" sz="2400" dirty="0" err="1"/>
              <a:t>stakeholders</a:t>
            </a:r>
            <a:endParaRPr lang="es-ES" sz="2400" dirty="0"/>
          </a:p>
          <a:p>
            <a:pPr>
              <a:defRPr sz="1400"/>
            </a:pPr>
            <a:r>
              <a:rPr lang="es-ES" sz="2400" dirty="0"/>
              <a:t>Describir motivaciones o expectativas de cada uno</a:t>
            </a:r>
          </a:p>
          <a:p>
            <a:pPr>
              <a:defRPr sz="1400"/>
            </a:pPr>
            <a:r>
              <a:rPr lang="es-ES" sz="2400" dirty="0"/>
              <a:t>Señalar un posible 'gap semántico' entre usuario y analista</a:t>
            </a:r>
          </a:p>
        </p:txBody>
      </p:sp>
      <p:pic>
        <p:nvPicPr>
          <p:cNvPr id="5" name="Picture 4" descr="Notas adhesivas en una pared">
            <a:extLst>
              <a:ext uri="{FF2B5EF4-FFF2-40B4-BE49-F238E27FC236}">
                <a16:creationId xmlns:a16="http://schemas.microsoft.com/office/drawing/2014/main" id="{3FF8A799-6366-8A13-5BAA-C034C50B6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93" r="26856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dirty="0" err="1"/>
              <a:t>Actividad</a:t>
            </a:r>
            <a:r>
              <a:rPr lang="en-US" sz="3500" dirty="0"/>
              <a:t> </a:t>
            </a:r>
            <a:r>
              <a:rPr lang="en-US" sz="3500" dirty="0" err="1"/>
              <a:t>práctica</a:t>
            </a:r>
            <a:r>
              <a:rPr lang="en-US" sz="3500" dirty="0"/>
              <a:t> </a:t>
            </a:r>
            <a:r>
              <a:rPr lang="en-US" sz="3500" dirty="0" err="1"/>
              <a:t>Requerimientos</a:t>
            </a:r>
            <a:endParaRPr lang="en-US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1400"/>
            </a:pPr>
            <a:r>
              <a:rPr lang="es-ES" sz="1700" dirty="0"/>
              <a:t>Piensen en un sistema que usen cotidianamente</a:t>
            </a:r>
          </a:p>
          <a:p>
            <a:pPr>
              <a:defRPr sz="1400"/>
            </a:pPr>
            <a:r>
              <a:rPr lang="es-ES" sz="1700" dirty="0"/>
              <a:t>Escriban 2 requerimientos funcionales</a:t>
            </a:r>
          </a:p>
          <a:p>
            <a:pPr>
              <a:defRPr sz="1400"/>
            </a:pPr>
            <a:r>
              <a:rPr lang="es-ES" sz="1700" dirty="0"/>
              <a:t>Escriban 2 requerimientos no funcionales</a:t>
            </a:r>
          </a:p>
          <a:p>
            <a:pPr>
              <a:defRPr sz="1400"/>
            </a:pPr>
            <a:r>
              <a:rPr lang="es-ES" sz="1700" dirty="0"/>
              <a:t> Justifiquen la clasificación</a:t>
            </a:r>
          </a:p>
          <a:p>
            <a:pPr marL="0" indent="0">
              <a:buNone/>
              <a:defRPr sz="1400"/>
            </a:pPr>
            <a:endParaRPr lang="es-ES" sz="1700" dirty="0"/>
          </a:p>
        </p:txBody>
      </p:sp>
      <p:pic>
        <p:nvPicPr>
          <p:cNvPr id="5" name="Picture 4" descr="Objetos de aprendizaje de matemática coloridos">
            <a:extLst>
              <a:ext uri="{FF2B5EF4-FFF2-40B4-BE49-F238E27FC236}">
                <a16:creationId xmlns:a16="http://schemas.microsoft.com/office/drawing/2014/main" id="{2060C193-22A1-0337-A904-D212C2B4C3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52" r="30298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303</Words>
  <Application>Microsoft Office PowerPoint</Application>
  <PresentationFormat>Presentación en pantalla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Clase 4 Perspectiva  Organizacional y Análisis</vt:lpstr>
      <vt:lpstr>Objetivos de la clase</vt:lpstr>
      <vt:lpstr>¿Qué es la elicitación?</vt:lpstr>
      <vt:lpstr>Definición de Requerimientos (IEEE 610, 1990)</vt:lpstr>
      <vt:lpstr>Rol de los requerimientos</vt:lpstr>
      <vt:lpstr>Perspectiva organizacional</vt:lpstr>
      <vt:lpstr>Especificación de Requerimientos de Software (SRS)</vt:lpstr>
      <vt:lpstr>Requerimientos funcionales vs no funcionales</vt:lpstr>
      <vt:lpstr>Actividad breve Stakeholders</vt:lpstr>
      <vt:lpstr>Actividad práctica Requerimientos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Gaby Caliva</dc:creator>
  <cp:keywords/>
  <dc:description>generated using python-pptx</dc:description>
  <cp:lastModifiedBy>Gaby Caliva</cp:lastModifiedBy>
  <cp:revision>2</cp:revision>
  <dcterms:created xsi:type="dcterms:W3CDTF">2013-01-27T09:14:16Z</dcterms:created>
  <dcterms:modified xsi:type="dcterms:W3CDTF">2025-09-02T13:55:48Z</dcterms:modified>
  <cp:category/>
</cp:coreProperties>
</file>