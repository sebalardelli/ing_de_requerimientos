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hzJa3TQmPLtz+CEe2h0FvROVOQ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859fa671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f859fa671a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366092"/>
              </a:gs>
            </a:gsLst>
            <a:lin ang="15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 flipH="1" rot="10800000">
            <a:off x="341640" y="-1720"/>
            <a:ext cx="8812530" cy="6840685"/>
          </a:xfrm>
          <a:prstGeom prst="rect">
            <a:avLst/>
          </a:prstGeom>
          <a:gradFill>
            <a:gsLst>
              <a:gs pos="0">
                <a:srgbClr val="244061">
                  <a:alpha val="61176"/>
                </a:srgbClr>
              </a:gs>
              <a:gs pos="21000">
                <a:srgbClr val="244061">
                  <a:alpha val="61176"/>
                </a:srgbClr>
              </a:gs>
              <a:gs pos="100000">
                <a:srgbClr val="4F81BD">
                  <a:alpha val="0"/>
                </a:srgbClr>
              </a:gs>
            </a:gsLst>
            <a:lin ang="21593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rgbClr val="366092">
                  <a:alpha val="0"/>
                </a:srgbClr>
              </a:gs>
              <a:gs pos="99000">
                <a:srgbClr val="000000">
                  <a:alpha val="41176"/>
                </a:srgbClr>
              </a:gs>
              <a:gs pos="100000">
                <a:srgbClr val="000000">
                  <a:alpha val="41176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 rot="-6325827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rgbClr val="4F81BD">
                  <a:alpha val="23922"/>
                </a:srgbClr>
              </a:gs>
              <a:gs pos="79000">
                <a:srgbClr val="93B3D7">
                  <a:alpha val="0"/>
                </a:srgbClr>
              </a:gs>
              <a:gs pos="100000">
                <a:srgbClr val="93B3D7">
                  <a:alpha val="0"/>
                </a:srgbClr>
              </a:gs>
            </a:gsLst>
            <a:lin ang="14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>
            <p:ph type="ctrTitle"/>
          </p:nvPr>
        </p:nvSpPr>
        <p:spPr>
          <a:xfrm>
            <a:off x="1040148" y="818984"/>
            <a:ext cx="4947184" cy="326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lang="es-ES" sz="4200">
                <a:solidFill>
                  <a:srgbClr val="FFFFFF"/>
                </a:solidFill>
              </a:rPr>
              <a:t>Clase 3</a:t>
            </a:r>
            <a:br>
              <a:rPr lang="es-ES" sz="4200">
                <a:solidFill>
                  <a:srgbClr val="FFFFFF"/>
                </a:solidFill>
              </a:rPr>
            </a:br>
            <a:r>
              <a:rPr lang="es-ES" sz="4200">
                <a:solidFill>
                  <a:srgbClr val="FFFFFF"/>
                </a:solidFill>
              </a:rPr>
              <a:t>Requerimientos y Ciclo de Vida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 flipH="1" rot="10800000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rgbClr val="366092">
                  <a:alpha val="50196"/>
                </a:srgbClr>
              </a:gs>
              <a:gs pos="99000">
                <a:srgbClr val="000000">
                  <a:alpha val="34118"/>
                </a:srgbClr>
              </a:gs>
              <a:gs pos="100000">
                <a:srgbClr val="000000">
                  <a:alpha val="34118"/>
                </a:srgbClr>
              </a:gs>
            </a:gsLst>
            <a:lin ang="17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1448905" y="4797188"/>
            <a:ext cx="4538427" cy="1241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r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</a:pPr>
            <a:r>
              <a:rPr lang="es-ES">
                <a:solidFill>
                  <a:srgbClr val="FFFFFF"/>
                </a:solidFill>
              </a:rPr>
              <a:t>Docente: Gabriela Caliva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 flipH="1" rot="-5400000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rgbClr val="366092">
                  <a:alpha val="50196"/>
                </a:srgbClr>
              </a:gs>
              <a:gs pos="99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 flipH="1" rot="5400000">
            <a:off x="-1914813" y="1914812"/>
            <a:ext cx="6858000" cy="3028377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366092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 flipH="1" rot="5400000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F81BD">
                  <a:alpha val="45882"/>
                </a:srgbClr>
              </a:gs>
              <a:gs pos="100000">
                <a:srgbClr val="4F81BD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 flipH="1" rot="5400000">
            <a:off x="263195" y="4092815"/>
            <a:ext cx="2501979" cy="3028381"/>
          </a:xfrm>
          <a:prstGeom prst="rect">
            <a:avLst/>
          </a:prstGeom>
          <a:gradFill>
            <a:gsLst>
              <a:gs pos="0">
                <a:srgbClr val="4F81BD">
                  <a:alpha val="29020"/>
                </a:srgbClr>
              </a:gs>
              <a:gs pos="2000">
                <a:srgbClr val="4F81BD">
                  <a:alpha val="29020"/>
                </a:srgbClr>
              </a:gs>
              <a:gs pos="100000">
                <a:srgbClr val="000000">
                  <a:alpha val="30196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 rot="-964587">
            <a:off x="-376302" y="969718"/>
            <a:ext cx="2925267" cy="417895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F81BD">
                  <a:alpha val="43137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 flipH="1" rot="5400000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93B3D7">
                  <a:alpha val="10980"/>
                </a:srgbClr>
              </a:gs>
              <a:gs pos="100000">
                <a:srgbClr val="93B3D7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>
            <p:ph type="title"/>
          </p:nvPr>
        </p:nvSpPr>
        <p:spPr>
          <a:xfrm>
            <a:off x="350041" y="586855"/>
            <a:ext cx="2401025" cy="33874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s-ES" sz="3500">
                <a:solidFill>
                  <a:srgbClr val="FFFFFF"/>
                </a:solidFill>
              </a:rPr>
              <a:t>Objetivos de la clase</a:t>
            </a:r>
            <a:endParaRPr/>
          </a:p>
        </p:txBody>
      </p:sp>
      <p:sp>
        <p:nvSpPr>
          <p:cNvPr id="105" name="Google Shape;105;p2"/>
          <p:cNvSpPr txBox="1"/>
          <p:nvPr>
            <p:ph idx="1" type="body"/>
          </p:nvPr>
        </p:nvSpPr>
        <p:spPr>
          <a:xfrm>
            <a:off x="3607694" y="649480"/>
            <a:ext cx="4916510" cy="5546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s-ES" sz="1700"/>
              <a:t> Comprender la relación entre requerimientos y ciclo de vida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s-ES" sz="1700"/>
              <a:t> Reconocer distintos modelos de ciclo de vida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s-ES" sz="1700"/>
              <a:t> Analizar impactos de requerimientos en éxito/fracaso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s-ES" sz="1700"/>
              <a:t> Valorar la importancia de la calidad de requerimientos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 flipH="1" rot="10800000">
            <a:off x="6096642" y="0"/>
            <a:ext cx="3047358" cy="1576412"/>
          </a:xfrm>
          <a:prstGeom prst="rect">
            <a:avLst/>
          </a:prstGeom>
          <a:gradFill>
            <a:gsLst>
              <a:gs pos="0">
                <a:srgbClr val="244061">
                  <a:alpha val="67843"/>
                </a:srgbClr>
              </a:gs>
              <a:gs pos="19000">
                <a:srgbClr val="244061">
                  <a:alpha val="67843"/>
                </a:srgbClr>
              </a:gs>
              <a:gs pos="100000">
                <a:srgbClr val="4F81BD">
                  <a:alpha val="78824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3000">
                <a:srgbClr val="4F81BD">
                  <a:alpha val="0"/>
                </a:srgbClr>
              </a:gs>
              <a:gs pos="99000">
                <a:srgbClr val="000000">
                  <a:alpha val="74118"/>
                </a:srgbClr>
              </a:gs>
              <a:gs pos="100000">
                <a:srgbClr val="000000">
                  <a:alpha val="74118"/>
                </a:srgbClr>
              </a:gs>
            </a:gsLst>
            <a:lin ang="203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 txBox="1"/>
          <p:nvPr>
            <p:ph type="title"/>
          </p:nvPr>
        </p:nvSpPr>
        <p:spPr>
          <a:xfrm>
            <a:off x="1028697" y="348865"/>
            <a:ext cx="7533018" cy="87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s-ES" sz="3500">
                <a:solidFill>
                  <a:srgbClr val="FFFFFF"/>
                </a:solidFill>
              </a:rPr>
              <a:t>Requerimientos en el ciclo de vida</a:t>
            </a:r>
            <a:endParaRPr/>
          </a:p>
        </p:txBody>
      </p:sp>
      <p:grpSp>
        <p:nvGrpSpPr>
          <p:cNvPr id="115" name="Google Shape;115;p4"/>
          <p:cNvGrpSpPr/>
          <p:nvPr/>
        </p:nvGrpSpPr>
        <p:grpSpPr>
          <a:xfrm>
            <a:off x="529571" y="2881481"/>
            <a:ext cx="8102812" cy="2655000"/>
            <a:chOff x="46529" y="768902"/>
            <a:chExt cx="8102812" cy="2655000"/>
          </a:xfrm>
        </p:grpSpPr>
        <p:sp>
          <p:nvSpPr>
            <p:cNvPr id="116" name="Google Shape;116;p4"/>
            <p:cNvSpPr/>
            <p:nvPr/>
          </p:nvSpPr>
          <p:spPr>
            <a:xfrm>
              <a:off x="518185" y="768902"/>
              <a:ext cx="1475437" cy="147543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832623" y="1083340"/>
              <a:ext cx="846562" cy="84656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46529" y="2703902"/>
              <a:ext cx="24187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4"/>
            <p:cNvSpPr txBox="1"/>
            <p:nvPr/>
          </p:nvSpPr>
          <p:spPr>
            <a:xfrm>
              <a:off x="46529" y="2703902"/>
              <a:ext cx="24187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b="0" i="0" lang="es-E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PARTE CLAVE PARA DESCUBRIR QUÉ SE DESEA</a:t>
              </a:r>
              <a:endParaRPr/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3360216" y="768902"/>
              <a:ext cx="1475437" cy="147543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3674654" y="1083340"/>
              <a:ext cx="846562" cy="84656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2888560" y="2703902"/>
              <a:ext cx="24187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4"/>
            <p:cNvSpPr txBox="1"/>
            <p:nvPr/>
          </p:nvSpPr>
          <p:spPr>
            <a:xfrm>
              <a:off x="2888560" y="2703902"/>
              <a:ext cx="24187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b="0" i="0" lang="es-E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BASE PARA ESTIMACIONES Y PLANIFICACIÓN</a:t>
              </a:r>
              <a:endParaRPr/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6202248" y="768902"/>
              <a:ext cx="1475437" cy="1475437"/>
            </a:xfrm>
            <a:prstGeom prst="ellipse">
              <a:avLst/>
            </a:prstGeom>
            <a:solidFill>
              <a:srgbClr val="7E61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6516685" y="1083340"/>
              <a:ext cx="846562" cy="84656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5730591" y="2703902"/>
              <a:ext cx="24187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4"/>
            <p:cNvSpPr txBox="1"/>
            <p:nvPr/>
          </p:nvSpPr>
          <p:spPr>
            <a:xfrm>
              <a:off x="5730591" y="2703902"/>
              <a:ext cx="24187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b="0" i="0" lang="es-E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IMPACTAN EN TODAS LAS FASES POSTERIORES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 flipH="1" rot="10800000">
            <a:off x="6096642" y="0"/>
            <a:ext cx="3047358" cy="1576412"/>
          </a:xfrm>
          <a:prstGeom prst="rect">
            <a:avLst/>
          </a:prstGeom>
          <a:gradFill>
            <a:gsLst>
              <a:gs pos="0">
                <a:srgbClr val="244061">
                  <a:alpha val="67843"/>
                </a:srgbClr>
              </a:gs>
              <a:gs pos="19000">
                <a:srgbClr val="244061">
                  <a:alpha val="67843"/>
                </a:srgbClr>
              </a:gs>
              <a:gs pos="100000">
                <a:srgbClr val="4F81BD">
                  <a:alpha val="78824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3000">
                <a:srgbClr val="4F81BD">
                  <a:alpha val="0"/>
                </a:srgbClr>
              </a:gs>
              <a:gs pos="99000">
                <a:srgbClr val="000000">
                  <a:alpha val="74118"/>
                </a:srgbClr>
              </a:gs>
              <a:gs pos="100000">
                <a:srgbClr val="000000">
                  <a:alpha val="74118"/>
                </a:srgbClr>
              </a:gs>
            </a:gsLst>
            <a:lin ang="203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 txBox="1"/>
          <p:nvPr>
            <p:ph type="title"/>
          </p:nvPr>
        </p:nvSpPr>
        <p:spPr>
          <a:xfrm>
            <a:off x="1028697" y="348865"/>
            <a:ext cx="7533018" cy="87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s-ES" sz="3500">
                <a:solidFill>
                  <a:srgbClr val="FFFFFF"/>
                </a:solidFill>
              </a:rPr>
              <a:t>Modelos de ciclo de vida</a:t>
            </a:r>
            <a:endParaRPr/>
          </a:p>
        </p:txBody>
      </p:sp>
      <p:grpSp>
        <p:nvGrpSpPr>
          <p:cNvPr id="137" name="Google Shape;137;p5"/>
          <p:cNvGrpSpPr/>
          <p:nvPr/>
        </p:nvGrpSpPr>
        <p:grpSpPr>
          <a:xfrm>
            <a:off x="483042" y="2544195"/>
            <a:ext cx="8195870" cy="3329571"/>
            <a:chOff x="0" y="431616"/>
            <a:chExt cx="8195870" cy="3329571"/>
          </a:xfrm>
        </p:grpSpPr>
        <p:sp>
          <p:nvSpPr>
            <p:cNvPr id="138" name="Google Shape;138;p5"/>
            <p:cNvSpPr/>
            <p:nvPr/>
          </p:nvSpPr>
          <p:spPr>
            <a:xfrm>
              <a:off x="0" y="431616"/>
              <a:ext cx="2561209" cy="1536725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5"/>
            <p:cNvSpPr txBox="1"/>
            <p:nvPr/>
          </p:nvSpPr>
          <p:spPr>
            <a:xfrm>
              <a:off x="0" y="431616"/>
              <a:ext cx="2561209" cy="153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b="0" i="0" lang="es-ES" sz="2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Waterfall: predictivo, secuencial</a:t>
              </a:r>
              <a:endParaRPr/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2817330" y="431616"/>
              <a:ext cx="2561209" cy="1536725"/>
            </a:xfrm>
            <a:prstGeom prst="rect">
              <a:avLst/>
            </a:prstGeom>
            <a:solidFill>
              <a:srgbClr val="BE754F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5"/>
            <p:cNvSpPr txBox="1"/>
            <p:nvPr/>
          </p:nvSpPr>
          <p:spPr>
            <a:xfrm>
              <a:off x="2817330" y="431616"/>
              <a:ext cx="2561209" cy="153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b="0" i="0" lang="es-ES" sz="2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Ágil (Scrum): adaptativo, iterativo</a:t>
              </a:r>
              <a:endParaRPr/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5634661" y="431616"/>
              <a:ext cx="2561209" cy="1536725"/>
            </a:xfrm>
            <a:prstGeom prst="rect">
              <a:avLst/>
            </a:prstGeom>
            <a:solidFill>
              <a:srgbClr val="BC995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5"/>
            <p:cNvSpPr txBox="1"/>
            <p:nvPr/>
          </p:nvSpPr>
          <p:spPr>
            <a:xfrm>
              <a:off x="5634661" y="431616"/>
              <a:ext cx="2561209" cy="153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b="0" i="0" lang="es-ES" sz="2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Modelo en V: validación y verificación paralelas</a:t>
              </a:r>
              <a:endParaRPr/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1408665" y="2224462"/>
              <a:ext cx="2561209" cy="1536725"/>
            </a:xfrm>
            <a:prstGeom prst="rect">
              <a:avLst/>
            </a:prstGeom>
            <a:solidFill>
              <a:srgbClr val="BABB5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5"/>
            <p:cNvSpPr txBox="1"/>
            <p:nvPr/>
          </p:nvSpPr>
          <p:spPr>
            <a:xfrm>
              <a:off x="1408665" y="2224462"/>
              <a:ext cx="2561209" cy="153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b="0" i="0" lang="es-ES" sz="2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RUP: iterativo e incremental</a:t>
              </a:r>
              <a:endParaRPr/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4225995" y="2224462"/>
              <a:ext cx="2561209" cy="1536725"/>
            </a:xfrm>
            <a:prstGeom prst="rect">
              <a:avLst/>
            </a:prstGeom>
            <a:solidFill>
              <a:srgbClr val="9ABA58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5"/>
            <p:cNvSpPr txBox="1"/>
            <p:nvPr/>
          </p:nvSpPr>
          <p:spPr>
            <a:xfrm>
              <a:off x="4225995" y="2224462"/>
              <a:ext cx="2561209" cy="153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b="0" i="0" lang="es-ES" sz="2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Comparación: predictivo vs. adaptativo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 flipH="1" rot="5400000">
            <a:off x="-1336136" y="1336710"/>
            <a:ext cx="6858000" cy="4184580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366092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 flipH="1" rot="5400000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F81BD">
                  <a:alpha val="0"/>
                </a:srgbClr>
              </a:gs>
              <a:gs pos="100000">
                <a:srgbClr val="4F81BD">
                  <a:alpha val="0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 flipH="1" rot="5400000">
            <a:off x="833933" y="3515977"/>
            <a:ext cx="2501979" cy="4182060"/>
          </a:xfrm>
          <a:prstGeom prst="rect">
            <a:avLst/>
          </a:prstGeom>
          <a:gradFill>
            <a:gsLst>
              <a:gs pos="0">
                <a:srgbClr val="4F81BD">
                  <a:alpha val="29020"/>
                </a:srgbClr>
              </a:gs>
              <a:gs pos="2000">
                <a:srgbClr val="4F81BD">
                  <a:alpha val="29020"/>
                </a:srgbClr>
              </a:gs>
              <a:gs pos="100000">
                <a:srgbClr val="000000">
                  <a:alpha val="30196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 flipH="1" rot="5400000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F81BD">
                  <a:alpha val="10980"/>
                </a:srgbClr>
              </a:gs>
              <a:gs pos="100000">
                <a:srgbClr val="4F81BD">
                  <a:alpha val="10980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0">
                <a:srgbClr val="4F81BD">
                  <a:alpha val="0"/>
                </a:srgbClr>
              </a:gs>
              <a:gs pos="39000">
                <a:srgbClr val="4F81BD">
                  <a:alpha val="0"/>
                </a:srgbClr>
              </a:gs>
              <a:gs pos="100000">
                <a:srgbClr val="93B3D7">
                  <a:alpha val="14902"/>
                </a:srgbClr>
              </a:gs>
            </a:gsLst>
            <a:lin ang="17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 txBox="1"/>
          <p:nvPr>
            <p:ph type="title"/>
          </p:nvPr>
        </p:nvSpPr>
        <p:spPr>
          <a:xfrm>
            <a:off x="619797" y="586855"/>
            <a:ext cx="3172575" cy="33874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s-ES" sz="3500">
                <a:solidFill>
                  <a:srgbClr val="FFFFFF"/>
                </a:solidFill>
              </a:rPr>
              <a:t>Beneficios de buenos requerimientos</a:t>
            </a:r>
            <a:endParaRPr/>
          </a:p>
        </p:txBody>
      </p:sp>
      <p:sp>
        <p:nvSpPr>
          <p:cNvPr id="159" name="Google Shape;159;p6"/>
          <p:cNvSpPr txBox="1"/>
          <p:nvPr>
            <p:ph idx="1" type="body"/>
          </p:nvPr>
        </p:nvSpPr>
        <p:spPr>
          <a:xfrm>
            <a:off x="4877368" y="649480"/>
            <a:ext cx="3646800" cy="55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s-ES" sz="1700"/>
              <a:t>Standish Group Report: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s-ES" sz="1700"/>
              <a:t> Factores de éxito: involucrar usuarios, apoyo directivo, requerimientos claros,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s-ES" sz="1700"/>
              <a:t>  planificación adecuada, expectativas realistas</a:t>
            </a:r>
            <a:endParaRPr/>
          </a:p>
          <a:p>
            <a:pPr indent="-234950" lvl="0" marL="34290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s-ES" sz="1700"/>
              <a:t>Dorfman: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s-ES" sz="1700"/>
              <a:t> Acuerdo entre stakeholders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s-ES" sz="1700"/>
              <a:t> Base para estimaciones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s-ES" sz="1700"/>
              <a:t> Mejor usabilidad y mantenibilidad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s-ES" sz="1700"/>
              <a:t> Menos retrabajo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 flipH="1" rot="5400000">
            <a:off x="-1336136" y="1336710"/>
            <a:ext cx="6858000" cy="4184580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366092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 flipH="1" rot="5400000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F81BD">
                  <a:alpha val="0"/>
                </a:srgbClr>
              </a:gs>
              <a:gs pos="100000">
                <a:srgbClr val="4F81BD">
                  <a:alpha val="0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 flipH="1" rot="5400000">
            <a:off x="833933" y="3515977"/>
            <a:ext cx="2501979" cy="4182060"/>
          </a:xfrm>
          <a:prstGeom prst="rect">
            <a:avLst/>
          </a:prstGeom>
          <a:gradFill>
            <a:gsLst>
              <a:gs pos="0">
                <a:srgbClr val="4F81BD">
                  <a:alpha val="29020"/>
                </a:srgbClr>
              </a:gs>
              <a:gs pos="2000">
                <a:srgbClr val="4F81BD">
                  <a:alpha val="29020"/>
                </a:srgbClr>
              </a:gs>
              <a:gs pos="100000">
                <a:srgbClr val="000000">
                  <a:alpha val="30196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 flipH="1" rot="5400000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F81BD">
                  <a:alpha val="10980"/>
                </a:srgbClr>
              </a:gs>
              <a:gs pos="100000">
                <a:srgbClr val="4F81BD">
                  <a:alpha val="10980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0">
                <a:srgbClr val="4F81BD">
                  <a:alpha val="0"/>
                </a:srgbClr>
              </a:gs>
              <a:gs pos="39000">
                <a:srgbClr val="4F81BD">
                  <a:alpha val="0"/>
                </a:srgbClr>
              </a:gs>
              <a:gs pos="100000">
                <a:srgbClr val="93B3D7">
                  <a:alpha val="14902"/>
                </a:srgbClr>
              </a:gs>
            </a:gsLst>
            <a:lin ang="17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 txBox="1"/>
          <p:nvPr>
            <p:ph type="title"/>
          </p:nvPr>
        </p:nvSpPr>
        <p:spPr>
          <a:xfrm>
            <a:off x="619797" y="586855"/>
            <a:ext cx="3172575" cy="33874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s-ES" sz="3500">
                <a:solidFill>
                  <a:srgbClr val="FFFFFF"/>
                </a:solidFill>
              </a:rPr>
              <a:t>Impactos negativos de malos requerimientos</a:t>
            </a:r>
            <a:endParaRPr/>
          </a:p>
        </p:txBody>
      </p:sp>
      <p:sp>
        <p:nvSpPr>
          <p:cNvPr id="171" name="Google Shape;171;p7"/>
          <p:cNvSpPr txBox="1"/>
          <p:nvPr>
            <p:ph idx="1" type="body"/>
          </p:nvPr>
        </p:nvSpPr>
        <p:spPr>
          <a:xfrm>
            <a:off x="4877368" y="649480"/>
            <a:ext cx="3646835" cy="5546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s-ES" sz="1700"/>
              <a:t>Standish Group Report: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s-ES" sz="1700"/>
              <a:t> Proyectos fallidos: requerimientos incompletos, cambios constantes, falta de input de usuarios,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s-ES" sz="1700"/>
              <a:t>  expectativas no realistas, falta de apoyo</a:t>
            </a:r>
            <a:endParaRPr/>
          </a:p>
          <a:p>
            <a:pPr indent="-234950" lvl="0" marL="34290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s-ES" sz="1700"/>
              <a:t>Estudios IBM &amp; Bell Labs: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s-ES" sz="1700"/>
              <a:t>• 80% de defectos se insertan en fase de requerimientos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s-ES" sz="1700"/>
              <a:t>• Detectarlos tarde multiplica los costos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 flipH="1" rot="10800000">
            <a:off x="6096642" y="0"/>
            <a:ext cx="3047358" cy="1576412"/>
          </a:xfrm>
          <a:prstGeom prst="rect">
            <a:avLst/>
          </a:prstGeom>
          <a:gradFill>
            <a:gsLst>
              <a:gs pos="0">
                <a:srgbClr val="244061">
                  <a:alpha val="67843"/>
                </a:srgbClr>
              </a:gs>
              <a:gs pos="19000">
                <a:srgbClr val="244061">
                  <a:alpha val="67843"/>
                </a:srgbClr>
              </a:gs>
              <a:gs pos="100000">
                <a:srgbClr val="4F81BD">
                  <a:alpha val="78824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3000">
                <a:srgbClr val="4F81BD">
                  <a:alpha val="0"/>
                </a:srgbClr>
              </a:gs>
              <a:gs pos="99000">
                <a:srgbClr val="000000">
                  <a:alpha val="74118"/>
                </a:srgbClr>
              </a:gs>
              <a:gs pos="100000">
                <a:srgbClr val="000000">
                  <a:alpha val="74118"/>
                </a:srgbClr>
              </a:gs>
            </a:gsLst>
            <a:lin ang="203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 txBox="1"/>
          <p:nvPr>
            <p:ph type="title"/>
          </p:nvPr>
        </p:nvSpPr>
        <p:spPr>
          <a:xfrm>
            <a:off x="1028697" y="348865"/>
            <a:ext cx="7533018" cy="87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s-ES" sz="3500">
                <a:solidFill>
                  <a:srgbClr val="FFFFFF"/>
                </a:solidFill>
              </a:rPr>
              <a:t>Costo de errores en etapas tardías</a:t>
            </a:r>
            <a:endParaRPr/>
          </a:p>
        </p:txBody>
      </p:sp>
      <p:grpSp>
        <p:nvGrpSpPr>
          <p:cNvPr id="181" name="Google Shape;181;p8"/>
          <p:cNvGrpSpPr/>
          <p:nvPr/>
        </p:nvGrpSpPr>
        <p:grpSpPr>
          <a:xfrm>
            <a:off x="529571" y="2881481"/>
            <a:ext cx="8102812" cy="2655000"/>
            <a:chOff x="46529" y="768902"/>
            <a:chExt cx="8102812" cy="2655000"/>
          </a:xfrm>
        </p:grpSpPr>
        <p:sp>
          <p:nvSpPr>
            <p:cNvPr id="182" name="Google Shape;182;p8"/>
            <p:cNvSpPr/>
            <p:nvPr/>
          </p:nvSpPr>
          <p:spPr>
            <a:xfrm>
              <a:off x="518185" y="768902"/>
              <a:ext cx="1475437" cy="147543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832623" y="1083340"/>
              <a:ext cx="846562" cy="84656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46529" y="2703902"/>
              <a:ext cx="24187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8"/>
            <p:cNvSpPr txBox="1"/>
            <p:nvPr/>
          </p:nvSpPr>
          <p:spPr>
            <a:xfrm>
              <a:off x="46529" y="2703902"/>
              <a:ext cx="24187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b="0" i="0" lang="es-E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CUANTO MÁS TARDE SE DETECTA UN ERROR, MÁS CUESTA CORREGIRLO</a:t>
              </a:r>
              <a:endParaRPr/>
            </a:p>
          </p:txBody>
        </p:sp>
        <p:sp>
          <p:nvSpPr>
            <p:cNvPr id="186" name="Google Shape;186;p8"/>
            <p:cNvSpPr/>
            <p:nvPr/>
          </p:nvSpPr>
          <p:spPr>
            <a:xfrm>
              <a:off x="3360216" y="768902"/>
              <a:ext cx="1475437" cy="147543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8"/>
            <p:cNvSpPr/>
            <p:nvPr/>
          </p:nvSpPr>
          <p:spPr>
            <a:xfrm>
              <a:off x="3674654" y="1083340"/>
              <a:ext cx="846562" cy="84656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8"/>
            <p:cNvSpPr/>
            <p:nvPr/>
          </p:nvSpPr>
          <p:spPr>
            <a:xfrm>
              <a:off x="2888560" y="2703902"/>
              <a:ext cx="24187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8"/>
            <p:cNvSpPr txBox="1"/>
            <p:nvPr/>
          </p:nvSpPr>
          <p:spPr>
            <a:xfrm>
              <a:off x="2888560" y="2703902"/>
              <a:ext cx="24187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b="0" i="0" lang="es-E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CORREGIR EN PRODUCTO LIBERADO CUESTA 100-200 VECES MÁS</a:t>
              </a:r>
              <a:endParaRPr/>
            </a:p>
          </p:txBody>
        </p:sp>
        <p:sp>
          <p:nvSpPr>
            <p:cNvPr id="190" name="Google Shape;190;p8"/>
            <p:cNvSpPr/>
            <p:nvPr/>
          </p:nvSpPr>
          <p:spPr>
            <a:xfrm>
              <a:off x="6202248" y="768902"/>
              <a:ext cx="1475437" cy="1475437"/>
            </a:xfrm>
            <a:prstGeom prst="ellipse">
              <a:avLst/>
            </a:prstGeom>
            <a:solidFill>
              <a:srgbClr val="7E61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8"/>
            <p:cNvSpPr/>
            <p:nvPr/>
          </p:nvSpPr>
          <p:spPr>
            <a:xfrm>
              <a:off x="6516685" y="1083340"/>
              <a:ext cx="846562" cy="84656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8"/>
            <p:cNvSpPr/>
            <p:nvPr/>
          </p:nvSpPr>
          <p:spPr>
            <a:xfrm>
              <a:off x="5730591" y="2703902"/>
              <a:ext cx="24187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8"/>
            <p:cNvSpPr txBox="1"/>
            <p:nvPr/>
          </p:nvSpPr>
          <p:spPr>
            <a:xfrm>
              <a:off x="5730591" y="2703902"/>
              <a:ext cx="24187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b="0" i="0" lang="es-E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MAYORÍA DE DEFECTOS SE ORIGINAN EN REQUERIMIENTOS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"/>
          <p:cNvSpPr/>
          <p:nvPr/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"/>
          <p:cNvSpPr/>
          <p:nvPr/>
        </p:nvSpPr>
        <p:spPr>
          <a:xfrm>
            <a:off x="0" y="0"/>
            <a:ext cx="3125454" cy="6858000"/>
          </a:xfrm>
          <a:custGeom>
            <a:rect b="b" l="l" r="r" t="t"/>
            <a:pathLst>
              <a:path extrusionOk="0" h="6858000" w="4167271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"/>
          <p:cNvSpPr txBox="1"/>
          <p:nvPr>
            <p:ph type="title"/>
          </p:nvPr>
        </p:nvSpPr>
        <p:spPr>
          <a:xfrm>
            <a:off x="515125" y="1153572"/>
            <a:ext cx="2400300" cy="4461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s-ES">
                <a:solidFill>
                  <a:srgbClr val="FFFFFF"/>
                </a:solidFill>
              </a:rPr>
              <a:t>Actividad</a:t>
            </a:r>
            <a:endParaRPr/>
          </a:p>
        </p:txBody>
      </p:sp>
      <p:pic>
        <p:nvPicPr>
          <p:cNvPr id="201" name="Google Shape;20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6980" y="1861547"/>
            <a:ext cx="5348395" cy="3045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"/>
          <p:cNvSpPr/>
          <p:nvPr/>
        </p:nvSpPr>
        <p:spPr>
          <a:xfrm flipH="1" rot="10800000">
            <a:off x="5662801" y="2455479"/>
            <a:ext cx="3062575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"/>
          <p:cNvSpPr txBox="1"/>
          <p:nvPr>
            <p:ph idx="1" type="body"/>
          </p:nvPr>
        </p:nvSpPr>
        <p:spPr>
          <a:xfrm>
            <a:off x="3461275" y="712747"/>
            <a:ext cx="5179800" cy="93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20000"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s-ES"/>
              <a:t>Congreso de </a:t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s-ES"/>
              <a:t>Ingeniería de Requerimientos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859fa671a_1_0"/>
          <p:cNvSpPr/>
          <p:nvPr/>
        </p:nvSpPr>
        <p:spPr>
          <a:xfrm>
            <a:off x="2286" y="0"/>
            <a:ext cx="91416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f859fa671a_1_0"/>
          <p:cNvSpPr/>
          <p:nvPr/>
        </p:nvSpPr>
        <p:spPr>
          <a:xfrm>
            <a:off x="0" y="0"/>
            <a:ext cx="3125453" cy="6858000"/>
          </a:xfrm>
          <a:custGeom>
            <a:rect b="b" l="l" r="r" t="t"/>
            <a:pathLst>
              <a:path extrusionOk="0" h="6858000" w="4167271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f859fa671a_1_0"/>
          <p:cNvSpPr txBox="1"/>
          <p:nvPr>
            <p:ph type="title"/>
          </p:nvPr>
        </p:nvSpPr>
        <p:spPr>
          <a:xfrm>
            <a:off x="515125" y="1153572"/>
            <a:ext cx="2400300" cy="44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s-ES">
                <a:solidFill>
                  <a:srgbClr val="FFFFFF"/>
                </a:solidFill>
              </a:rPr>
              <a:t>Actividad</a:t>
            </a:r>
            <a:endParaRPr/>
          </a:p>
        </p:txBody>
      </p:sp>
      <p:sp>
        <p:nvSpPr>
          <p:cNvPr id="211" name="Google Shape;211;g3f859fa671a_1_0"/>
          <p:cNvSpPr/>
          <p:nvPr/>
        </p:nvSpPr>
        <p:spPr>
          <a:xfrm flipH="1" rot="10800000">
            <a:off x="5662801" y="2455612"/>
            <a:ext cx="3062700" cy="4083300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f859fa671a_1_0"/>
          <p:cNvSpPr txBox="1"/>
          <p:nvPr>
            <p:ph idx="1" type="body"/>
          </p:nvPr>
        </p:nvSpPr>
        <p:spPr>
          <a:xfrm>
            <a:off x="3335481" y="591344"/>
            <a:ext cx="5179800" cy="55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ES" sz="1300">
                <a:latin typeface="Arial"/>
                <a:ea typeface="Arial"/>
                <a:cs typeface="Arial"/>
                <a:sym typeface="Arial"/>
              </a:rPr>
              <a:t>Cada grupo tiene que responder: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AutoNum type="arabicPeriod"/>
            </a:pPr>
            <a:r>
              <a:rPr lang="es-ES" sz="1100">
                <a:latin typeface="Arial"/>
                <a:ea typeface="Arial"/>
                <a:cs typeface="Arial"/>
                <a:sym typeface="Arial"/>
              </a:rPr>
              <a:t>¿Qué es?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s-ES" sz="1100">
                <a:latin typeface="Arial"/>
                <a:ea typeface="Arial"/>
                <a:cs typeface="Arial"/>
                <a:sym typeface="Arial"/>
              </a:rPr>
              <a:t>¿Cómo funciona?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s-ES" sz="1100">
                <a:latin typeface="Arial"/>
                <a:ea typeface="Arial"/>
                <a:cs typeface="Arial"/>
                <a:sym typeface="Arial"/>
              </a:rPr>
              <a:t>¿Qué lugar ocupan los requerimientos?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s-ES" sz="1100">
                <a:latin typeface="Arial"/>
                <a:ea typeface="Arial"/>
                <a:cs typeface="Arial"/>
                <a:sym typeface="Arial"/>
              </a:rPr>
              <a:t>¿Qué ventaja presenta?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s-ES" sz="1100">
                <a:latin typeface="Arial"/>
                <a:ea typeface="Arial"/>
                <a:cs typeface="Arial"/>
                <a:sym typeface="Arial"/>
              </a:rPr>
              <a:t>¿Qué dificultad presenta?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s-ES" sz="1100">
                <a:latin typeface="Arial"/>
                <a:ea typeface="Arial"/>
                <a:cs typeface="Arial"/>
                <a:sym typeface="Arial"/>
              </a:rPr>
              <a:t>¿Por qué debería importarle esto a un analista de requerimientos?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s-ES" sz="1100">
                <a:latin typeface="Arial"/>
                <a:ea typeface="Arial"/>
                <a:cs typeface="Arial"/>
                <a:sym typeface="Arial"/>
              </a:rPr>
              <a:t>Un ejemplo sencillo.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74295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2" marL="9144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2" marL="342900" rtl="0" algn="ctr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s-ES" sz="1400"/>
              <a:t>Imaginen que ustedes son los especialistas invitados al Congreso de Ingeniería de Requerimientos. Tienen 3 minutos para convencer al resto de que entiendan su tema.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Gaby Caliva</dc:creator>
</cp:coreProperties>
</file>